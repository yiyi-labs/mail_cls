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1.xml" ContentType="application/vnd.openxmlformats-officedocument.drawingml.chart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2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3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4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2bbe794d07c4cb4" /><Relationship Type="http://schemas.openxmlformats.org/officeDocument/2006/relationships/extended-properties" Target="/docProps/app.xml" Id="R7d90f50c365a44bc" /><Relationship Type="http://schemas.openxmlformats.org/officeDocument/2006/relationships/officeDocument" Target="/ppt/presentation.xml" Id="R41f158fd25284ab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cbde6828cce4dab"/>
  </p:sldMasterIdLst>
  <p:notesMasterIdLst>
    <p:notesMasterId xmlns:r="http://schemas.openxmlformats.org/officeDocument/2006/relationships" r:id="Recfb8ab156884dcc"/>
  </p:notesMasterIdLst>
  <p:sldIdLst>
    <p:sldId xmlns:r="http://schemas.openxmlformats.org/officeDocument/2006/relationships" id="256" r:id="R014c74ef82954eb7"/>
    <p:sldId xmlns:r="http://schemas.openxmlformats.org/officeDocument/2006/relationships" id="257" r:id="R1b4b1cbc515a4e6b"/>
    <p:sldId xmlns:r="http://schemas.openxmlformats.org/officeDocument/2006/relationships" id="258" r:id="R9ce35cafb07f4d91"/>
    <p:sldId xmlns:r="http://schemas.openxmlformats.org/officeDocument/2006/relationships" id="259" r:id="Ra6dcf53678394872"/>
    <p:sldId xmlns:r="http://schemas.openxmlformats.org/officeDocument/2006/relationships" id="260" r:id="Ra2141df6e9cc409a"/>
    <p:sldId xmlns:r="http://schemas.openxmlformats.org/officeDocument/2006/relationships" id="261" r:id="R670e20a1c96743af"/>
    <p:sldId xmlns:r="http://schemas.openxmlformats.org/officeDocument/2006/relationships" id="262" r:id="R2698d81f2a1c4d62"/>
    <p:sldId xmlns:r="http://schemas.openxmlformats.org/officeDocument/2006/relationships" id="263" r:id="Rd3a33cae2a1b4c2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556f4b492034afa" /><Relationship Type="http://schemas.openxmlformats.org/officeDocument/2006/relationships/slideMaster" Target="/ppt/slideMasters/slideMaster1.xml" Id="R8cbde6828cce4dab" /><Relationship Type="http://schemas.openxmlformats.org/officeDocument/2006/relationships/notesMaster" Target="/ppt/notesMasters/notesMaster1.xml" Id="Recfb8ab156884dcc" /><Relationship Type="http://schemas.openxmlformats.org/officeDocument/2006/relationships/presProps" Target="/ppt/presProps.xml" Id="Ra4c2f128808f4d9a" /><Relationship Type="http://schemas.openxmlformats.org/officeDocument/2006/relationships/tableStyles" Target="/ppt/tableStyles.xml" Id="R8e6dd83d03274523" /><Relationship Type="http://schemas.openxmlformats.org/officeDocument/2006/relationships/slide" Target="/ppt/slides/slide1.xml" Id="R014c74ef82954eb7" /><Relationship Type="http://schemas.openxmlformats.org/officeDocument/2006/relationships/slide" Target="/ppt/slides/slide2.xml" Id="R1b4b1cbc515a4e6b" /><Relationship Type="http://schemas.openxmlformats.org/officeDocument/2006/relationships/slide" Target="/ppt/slides/slide3.xml" Id="R9ce35cafb07f4d91" /><Relationship Type="http://schemas.openxmlformats.org/officeDocument/2006/relationships/slide" Target="/ppt/slides/slide4.xml" Id="Ra6dcf53678394872" /><Relationship Type="http://schemas.openxmlformats.org/officeDocument/2006/relationships/slide" Target="/ppt/slides/slide5.xml" Id="Ra2141df6e9cc409a" /><Relationship Type="http://schemas.openxmlformats.org/officeDocument/2006/relationships/slide" Target="/ppt/slides/slide6.xml" Id="R670e20a1c96743af" /><Relationship Type="http://schemas.openxmlformats.org/officeDocument/2006/relationships/slide" Target="/ppt/slides/slide7.xml" Id="R2698d81f2a1c4d62" /><Relationship Type="http://schemas.openxmlformats.org/officeDocument/2006/relationships/slide" Target="/ppt/slides/slide8.xml" Id="Rd3a33cae2a1b4c2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76342512cff434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f252c3aefc64255" /><Relationship Type="http://schemas.openxmlformats.org/officeDocument/2006/relationships/notesMaster" Target="/ppt/notesMasters/notesMaster1.xml" Id="R997792ce1293499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c8f9d275c404ecc" /><Relationship Type="http://schemas.openxmlformats.org/officeDocument/2006/relationships/notesMaster" Target="/ppt/notesMasters/notesMaster1.xml" Id="Rbbb1e3e75da842c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6558125589341d9" /><Relationship Type="http://schemas.openxmlformats.org/officeDocument/2006/relationships/notesMaster" Target="/ppt/notesMasters/notesMaster1.xml" Id="R8b02f3da14b2434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89eb60e435c4588" /><Relationship Type="http://schemas.openxmlformats.org/officeDocument/2006/relationships/notesMaster" Target="/ppt/notesMasters/notesMaster1.xml" Id="R7e384f1417824f3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fb769a7027948b3" /><Relationship Type="http://schemas.openxmlformats.org/officeDocument/2006/relationships/notesMaster" Target="/ppt/notesMasters/notesMaster1.xml" Id="Rc76f716a1a8848b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0f39426084b491b" /><Relationship Type="http://schemas.openxmlformats.org/officeDocument/2006/relationships/notesMaster" Target="/ppt/notesMasters/notesMaster1.xml" Id="R3b1da42a00ec4c3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94d0f2f4fbe4764" /><Relationship Type="http://schemas.openxmlformats.org/officeDocument/2006/relationships/notesMaster" Target="/ppt/notesMasters/notesMaster1.xml" Id="Refa3096f167e4b1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b86f5012abb4b33" /><Relationship Type="http://schemas.openxmlformats.org/officeDocument/2006/relationships/notesMaster" Target="/ppt/notesMasters/notesMaster1.xml" Id="Rbe0326b151aa44e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 25 秒。</a:t>
            </a:r>
          </a:p>
          <a:p xmlns:a="http://schemas.openxmlformats.org/drawingml/2006/main">
            <a:r>
              <a:t>课程题目是邮件分类，重点是用 Python 完成数据清洗、统计分析、特征构建和结果解释。统一语料有 113715 封，主模型 MacBERT 专项微调 由开发数据选择。后面的成绩来自相同的 19820 封留出邮件，并保留来源差异。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依据：corpus.json；evaluation_plan.json；results_combined.csv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 40 秒。</a:t>
            </a:r>
          </a:p>
          <a:p xmlns:a="http://schemas.openxmlformats.org/drawingml/2006/main">
            <a:r>
              <a:t>TREC06C 保留原有划分，新增 Apache SpamAssassin 与 AUEB Enron-Spam。原始包统一放在 data/raw，课程分析只读一张 corpus 表。新增数据先检查精确重复和已知近重复，再按组划分。合并存储并不代表混合训练与测试。拉丁字母为主不一定全部是英语，语料年代也限制了结论。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依据：NIST TREC15 overview；Apache publiccorpus/readme.html；AUEB enron-spam/readme.txt；data/README.md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 40 秒。</a:t>
            </a:r>
          </a:p>
          <a:p xmlns:a="http://schemas.openxmlformats.org/drawingml/2006/main">
            <a:r>
              <a:t>这里的词来自统一训练集，不是手工挑选的营销词。按正常与垃圾各自的邮件数归一化，避免垃圾邮件更多造成所有词都显得偏垃圾。Notebook 用 NumPy 计算一个小语料的 TF-IDF 并核对 sklearn，真实分析则使用 pandas 聚合和严格编号连接。模型还会使用字符片段和主题，补充词分割的局限。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依据：corpus_terms.parquet；Notebook 02；analysis/distributions.py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 40 秒。</a:t>
            </a:r>
          </a:p>
          <a:p xmlns:a="http://schemas.openxmlformats.org/drawingml/2006/main">
            <a:r>
              <a:t>朴素贝叶斯与逻辑回归共享词 TF-IDF，形成清楚的分类器对照。SVM 使用词、字符和主题的多粒度特征。Qwen3-Embedding-0.6B 使用官方预训练编码器提取向量，只训练逻辑回归头。MacBERT 约一亿参数，使用邮件标签进行全量微调。选择 0.6B 是本地资源与语义能力的折中，并不是为了与 MacBERT 做等参数比较。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依据：model_catalog.py；benchmark.csv；evaluation_plan.json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 40 秒。</a:t>
            </a:r>
          </a:p>
          <a:p xmlns:a="http://schemas.openxmlformats.org/drawingml/2006/main">
            <a:r>
              <a:t>这张图使用相同邮件上的真实错误封数。当前主模型正常误拦 60 封、垃圾漏判 58 封。模型及阈值由 Policy 选择，同时报告来源分组的得失。当前成绩是固定留出集的回顾评估，不能称为一次新的独立确认。性能在同一机器、相同邮件上测量，预热后重复三次，模型加载另计。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依据：results_combined.csv；selection.json；benchmark.csv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 40 秒。</a:t>
            </a:r>
          </a:p>
          <a:p xmlns:a="http://schemas.openxmlformats.org/drawingml/2006/main">
            <a:r>
              <a:t>数据分析需要从整体分数回到错误分布。网页按来源、文字类型、长度和损坏情况分组，再打开具体邮件查看；语义模型还显示真实截断比例。训练见过同来源的其他邮件。首次发布过严地拒绝全部新模型，修订前已观察旧模型测试成绩，因此这里是回顾评估。修订仅用开发数据选择模型和阈值，模型拟合没有使用 Test。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依据：results_*.csv；reports/next_stage.md；analysis/tables.py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 40 秒。</a:t>
            </a:r>
          </a:p>
          <a:p xmlns:a="http://schemas.openxmlformats.org/drawingml/2006/main">
            <a:r>
              <a:t>垃圾分数接近一表示模型强烈倾向垃圾类别，可能还包含数值饱和，并不等于百分之百正确。可靠性图将概率划成十个区间，对照平均预测与真实垃圾比例，点偏离对角线说明区间内存在偏差。Brier 使用每封邮件的概率误差计算。校准数据与模型训练数据分开，但历史数据上的校准仍不能保证现代邮箱可靠。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依据：reliability_combined_*.csv；Notebook 04；analysis/tables.py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 35 秒。</a:t>
            </a:r>
          </a:p>
          <a:p xmlns:a="http://schemas.openxmlformats.org/drawingml/2006/main">
            <a:r>
              <a:t>最后在网页输入一封合成邮件，展示实际词元与特征贡献，再替换一个片段重新分类。中间张量来自真实推理，动画用于理解计算顺序，不把动画当作重新训练或因果解释。上传文件支持本地批量分类。所有课程材料共用分析函数；GPU 训练保存模型、优化器、随机状态和批次位置，电脑关闭后可恢复。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依据：app/app.py；text_analysis.py；experiments/checkpoint.py；四份 Notebook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f77403b69f84e8f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888c34dffe84989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1d3ac94b47a42e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0ab7c76cc8a4162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0fe7b2db5a643bf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1f1c3a74bba4a2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7B4EDED-CC7B-4BE2-BE5B-1310E9A4997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C42E81E9-8B69-4F79-947B-18E3010717E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459B5EAD-639B-4C41-BAB8-014598FADD3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D941B13-874D-4A4A-8E49-A6F6E958DB2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24B6EC68-A8D7-4E8A-B064-DC845B29FE0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595D3473-A191-4BE3-86C0-D17773B49A4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63E2EC3-2E08-46E8-BF27-E7B0C9152A4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70896D7C-601C-4E74-9351-9FE510BC3DE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F582D1B-CE38-417B-8E09-F320499085C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F26FEB0-D9DE-4526-AD92-EFA2BE4DBB9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2adb48bd85345fd" /><Relationship Type="http://schemas.openxmlformats.org/officeDocument/2006/relationships/slideLayout" Target="/ppt/slideLayouts/slideLayout1.xml" Id="Rf05327a6c0cb40c9" /><Relationship Type="http://schemas.openxmlformats.org/officeDocument/2006/relationships/slideLayout" Target="/ppt/slideLayouts/slideLayout2.xml" Id="R4d6faf9bd0b44628" /><Relationship Type="http://schemas.openxmlformats.org/officeDocument/2006/relationships/slideLayout" Target="/ppt/slideLayouts/slideLayout3.xml" Id="R60eac8cce09542cc" /><Relationship Type="http://schemas.openxmlformats.org/officeDocument/2006/relationships/slideLayout" Target="/ppt/slideLayouts/slideLayout4.xml" Id="Ra713404dcbf147d2" /><Relationship Type="http://schemas.openxmlformats.org/officeDocument/2006/relationships/slideLayout" Target="/ppt/slideLayouts/slideLayout5.xml" Id="Rdabce5958ff34775" /><Relationship Type="http://schemas.openxmlformats.org/officeDocument/2006/relationships/slideLayout" Target="/ppt/slideLayouts/slideLayout6.xml" Id="R4e3531debec44c0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05327a6c0cb40c9"/>
    <p:sldLayoutId xmlns:r="http://schemas.openxmlformats.org/officeDocument/2006/relationships" id="2147483650" r:id="R4d6faf9bd0b44628"/>
    <p:sldLayoutId xmlns:r="http://schemas.openxmlformats.org/officeDocument/2006/relationships" id="2147483651" r:id="R60eac8cce09542cc"/>
    <p:sldLayoutId xmlns:r="http://schemas.openxmlformats.org/officeDocument/2006/relationships" id="2147483652" r:id="Ra713404dcbf147d2"/>
    <p:sldLayoutId xmlns:r="http://schemas.openxmlformats.org/officeDocument/2006/relationships" id="2147483653" r:id="Rdabce5958ff34775"/>
    <p:sldLayoutId xmlns:r="http://schemas.openxmlformats.org/officeDocument/2006/relationships" id="2147483654" r:id="R4e3531debec44c0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a7ca46bca904f05" /><Relationship Type="http://schemas.openxmlformats.org/officeDocument/2006/relationships/notesSlide" Target="/ppt/notesSlides/notesSlide1.xml" Id="Rcaeaf2961f424bc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7d04a9c0b28460e" /><Relationship Type="http://schemas.openxmlformats.org/officeDocument/2006/relationships/chart" Target="/ppt/slides/charts/chart1.xml" Id="Rd5e697e1aa384dc2" /><Relationship Type="http://schemas.openxmlformats.org/officeDocument/2006/relationships/notesSlide" Target="/ppt/notesSlides/notesSlide2.xml" Id="Re5fa8cbe66e3466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15c67759306413c" /><Relationship Type="http://schemas.openxmlformats.org/officeDocument/2006/relationships/chart" Target="/ppt/slides/charts/chart2.xml" Id="R68ce60d2b6e44855" /><Relationship Type="http://schemas.openxmlformats.org/officeDocument/2006/relationships/notesSlide" Target="/ppt/notesSlides/notesSlide3.xml" Id="R3e99c8707230413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a80fbd5710f4e9a" /><Relationship Type="http://schemas.openxmlformats.org/officeDocument/2006/relationships/notesSlide" Target="/ppt/notesSlides/notesSlide4.xml" Id="R773b99d752ce4f2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a31e173f0484d15" /><Relationship Type="http://schemas.openxmlformats.org/officeDocument/2006/relationships/chart" Target="/ppt/slides/charts/chart3.xml" Id="R1b98ba537c7b49c2" /><Relationship Type="http://schemas.openxmlformats.org/officeDocument/2006/relationships/notesSlide" Target="/ppt/notesSlides/notesSlide5.xml" Id="R04987a9e4c3c4f6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1b77b4710e14667" /><Relationship Type="http://schemas.openxmlformats.org/officeDocument/2006/relationships/notesSlide" Target="/ppt/notesSlides/notesSlide6.xml" Id="Rc4dbbb1bb330403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39e8595ab994649" /><Relationship Type="http://schemas.openxmlformats.org/officeDocument/2006/relationships/chart" Target="/ppt/slides/charts/chart4.xml" Id="Rc53336f6bb914c09" /><Relationship Type="http://schemas.openxmlformats.org/officeDocument/2006/relationships/notesSlide" Target="/ppt/notesSlides/notesSlide7.xml" Id="Rafb5058c627b4db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a7b720d4b574e7a" /><Relationship Type="http://schemas.openxmlformats.org/officeDocument/2006/relationships/notesSlide" Target="/ppt/notesSlides/notesSlide8.xml" Id="Rda4f19451677458c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_rels/chart4.xml.rels><Relationships xmlns="http://schemas.openxmlformats.org/package/2006/relationships"><Relationship Id="rIdChartSnapshot1" Type="http://schemas.openxmlformats.org/officeDocument/2006/relationships/package" Target="../../embeddings/chart-data-snapshot-004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725" b="1">
                <a:solidFill>
                  <a:srgbClr val="222A40"/>
                </a:solidFill>
              </a:rPr>
              <a:t>各来源的真实邮件数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725" b="1">
              <a:solidFill>
                <a:srgbClr val="222A40"/>
              </a:solidFill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正常</c:v>
          </c:tx>
          <c:spPr>
            <a:solidFill xmlns:a="http://schemas.openxmlformats.org/drawingml/2006/main">
              <a:srgbClr val="6265D9"/>
            </a:solidFill>
          </c:spPr>
          <c:invertIfNegative val="0"/>
          <c:cat>
            <c:strRef>
              <c:f>'Chart Data'!$A$2:$A$4</c:f>
              <c:strCache>
                <c:ptCount val="3"/>
                <c:pt idx="0">
                  <c:v>Enron-Spam</c:v>
                </c:pt>
                <c:pt idx="1">
                  <c:v>Apache SpamAssassin</c:v>
                </c:pt>
                <c:pt idx="2">
                  <c:v>TREC06C</c:v>
                </c:pt>
              </c:strCache>
            </c:strRef>
          </c:cat>
          <c:val>
            <c:numRef>
              <c:f>'Chart Data'!$B$2:$B$4</c:f>
              <c:numCache>
                <c:formatCode>0</c:formatCode>
                <c:ptCount val="3"/>
                <c:pt idx="0">
                  <c:v>18003</c:v>
                </c:pt>
                <c:pt idx="1">
                  <c:v>4108</c:v>
                </c:pt>
                <c:pt idx="2">
                  <c:v>21766</c:v>
                </c:pt>
              </c:numCache>
            </c:numRef>
          </c:val>
        </c:ser>
        <c:ser>
          <c:idx val="1"/>
          <c:order val="1"/>
          <c:tx>
            <c:v>垃圾</c:v>
          </c:tx>
          <c:spPr>
            <a:solidFill xmlns:a="http://schemas.openxmlformats.org/drawingml/2006/main">
              <a:srgbClr val="BE794F"/>
            </a:solidFill>
          </c:spPr>
          <c:invertIfNegative val="0"/>
          <c:cat>
            <c:strRef>
              <c:f>'Chart Data'!$C$2:$C$4</c:f>
              <c:strCache>
                <c:ptCount val="3"/>
                <c:pt idx="0">
                  <c:v>Enron-Spam</c:v>
                </c:pt>
                <c:pt idx="1">
                  <c:v>Apache SpamAssassin</c:v>
                </c:pt>
                <c:pt idx="2">
                  <c:v>TREC06C</c:v>
                </c:pt>
              </c:strCache>
            </c:strRef>
          </c:cat>
          <c:val>
            <c:numRef>
              <c:f>'Chart Data'!$D$2:$D$4</c:f>
              <c:numCache>
                <c:formatCode>0</c:formatCode>
                <c:ptCount val="3"/>
                <c:pt idx="0">
                  <c:v>25179</c:v>
                </c:pt>
                <c:pt idx="1">
                  <c:v>1805</c:v>
                </c:pt>
                <c:pt idx="2">
                  <c:v>42854</c:v>
                </c:pt>
              </c:numCache>
            </c:numRef>
          </c:val>
        </c:ser>
        <c:dLbls>
          <c:numFmt formatCode="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425">
                  <a:solidFill>
                    <a:srgbClr val="222A40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8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EE2EC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222A40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EE2EC"/>
              </a:solidFill>
              <a:prstDash val="solid"/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57086"/>
                </a:solidFill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425">
              <a:solidFill>
                <a:srgbClr val="657086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725" b="1">
                <a:solidFill>
                  <a:srgbClr val="222A40"/>
                </a:solidFill>
              </a:rPr>
              <a:t>训练集中的区分词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725" b="1">
              <a:solidFill>
                <a:srgbClr val="222A40"/>
              </a:solidFill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正常类内比例</c:v>
          </c:tx>
          <c:spPr>
            <a:solidFill xmlns:a="http://schemas.openxmlformats.org/drawingml/2006/main">
              <a:srgbClr val="6265D9"/>
            </a:solidFill>
          </c:spPr>
          <c:invertIfNegative val="0"/>
          <c:cat>
            <c:strRef>
              <c:f>'Chart Data'!$A$2:$A$7</c:f>
              <c:strCache>
                <c:ptCount val="6"/>
                <c:pt idx="0">
                  <c:v>on</c:v>
                </c:pt>
                <c:pt idx="1">
                  <c:v>一个</c:v>
                </c:pt>
                <c:pt idx="2">
                  <c:v>enron</c:v>
                </c:pt>
                <c:pt idx="3">
                  <c:v>com</c:v>
                </c:pt>
                <c:pt idx="4">
                  <c:v>公司</c:v>
                </c:pt>
                <c:pt idx="5">
                  <c:v>有限公司</c:v>
                </c:pt>
              </c:strCache>
            </c:strRef>
          </c:cat>
          <c:val>
            <c:numRef>
              <c:f>'Chart Data'!$B$2:$B$7</c:f>
              <c:numCache>
                <c:formatCode>0%</c:formatCode>
                <c:ptCount val="6"/>
                <c:pt idx="0">
                  <c:v>0.296156</c:v>
                </c:pt>
                <c:pt idx="1">
                  <c:v>0.277355</c:v>
                </c:pt>
                <c:pt idx="2">
                  <c:v>0.164414</c:v>
                </c:pt>
                <c:pt idx="3">
                  <c:v>0.182863</c:v>
                </c:pt>
                <c:pt idx="4">
                  <c:v>0.041258</c:v>
                </c:pt>
                <c:pt idx="5">
                  <c:v>0.007177</c:v>
                </c:pt>
              </c:numCache>
            </c:numRef>
          </c:val>
        </c:ser>
        <c:ser>
          <c:idx val="1"/>
          <c:order val="1"/>
          <c:tx>
            <c:v>垃圾类内比例</c:v>
          </c:tx>
          <c:spPr>
            <a:solidFill xmlns:a="http://schemas.openxmlformats.org/drawingml/2006/main">
              <a:srgbClr val="BE794F"/>
            </a:solidFill>
          </c:spPr>
          <c:invertIfNegative val="0"/>
          <c:cat>
            <c:strRef>
              <c:f>'Chart Data'!$C$2:$C$7</c:f>
              <c:strCache>
                <c:ptCount val="6"/>
                <c:pt idx="0">
                  <c:v>on</c:v>
                </c:pt>
                <c:pt idx="1">
                  <c:v>一个</c:v>
                </c:pt>
                <c:pt idx="2">
                  <c:v>enron</c:v>
                </c:pt>
                <c:pt idx="3">
                  <c:v>com</c:v>
                </c:pt>
                <c:pt idx="4">
                  <c:v>公司</c:v>
                </c:pt>
                <c:pt idx="5">
                  <c:v>有限公司</c:v>
                </c:pt>
              </c:strCache>
            </c:strRef>
          </c:cat>
          <c:val>
            <c:numRef>
              <c:f>'Chart Data'!$D$2:$D$7</c:f>
              <c:numCache>
                <c:formatCode>0%</c:formatCode>
                <c:ptCount val="6"/>
                <c:pt idx="0">
                  <c:v>0.128222</c:v>
                </c:pt>
                <c:pt idx="1">
                  <c:v>0.112634</c:v>
                </c:pt>
                <c:pt idx="2">
                  <c:v>0</c:v>
                </c:pt>
                <c:pt idx="3">
                  <c:v>0.607871</c:v>
                </c:pt>
                <c:pt idx="4">
                  <c:v>0.399513</c:v>
                </c:pt>
                <c:pt idx="5">
                  <c:v>0.300164</c:v>
                </c:pt>
              </c:numCache>
            </c:numRef>
          </c:val>
        </c:ser>
        <c:dLbls>
          <c:numFmt formatCode="0%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425">
                  <a:solidFill>
                    <a:srgbClr val="222A40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8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EE2EC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222A40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EE2EC"/>
              </a:solidFill>
              <a:prstDash val="solid"/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57086"/>
                </a:solidFill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425">
              <a:solidFill>
                <a:srgbClr val="657086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725" b="1">
                <a:solidFill>
                  <a:srgbClr val="222A40"/>
                </a:solidFill>
              </a:rPr>
              <a:t>实际分类错误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725" b="1">
              <a:solidFill>
                <a:srgbClr val="222A40"/>
              </a:solidFill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正常误拦</c:v>
          </c:tx>
          <c:spPr>
            <a:solidFill xmlns:a="http://schemas.openxmlformats.org/drawingml/2006/main">
              <a:srgbClr val="BE794F"/>
            </a:solidFill>
          </c:spPr>
          <c:invertIfNegative val="0"/>
          <c:cat>
            <c:strRef>
              <c:f>'Chart Data'!$A$2:$A$6</c:f>
              <c:strCache>
                <c:ptCount val="5"/>
                <c:pt idx="0">
                  <c:v>NB</c:v>
                </c:pt>
                <c:pt idx="1">
                  <c:v>LR</c:v>
                </c:pt>
                <c:pt idx="2">
                  <c:v>SVM</c:v>
                </c:pt>
                <c:pt idx="3">
                  <c:v>Qwen + LR</c:v>
                </c:pt>
                <c:pt idx="4">
                  <c:v>MacBERT</c:v>
                </c:pt>
              </c:strCache>
            </c:strRef>
          </c:cat>
          <c:val>
            <c:numRef>
              <c:f>'Chart Data'!$B$2:$B$6</c:f>
              <c:numCache>
                <c:formatCode>0</c:formatCode>
                <c:ptCount val="5"/>
                <c:pt idx="0">
                  <c:v>434</c:v>
                </c:pt>
                <c:pt idx="1">
                  <c:v>124</c:v>
                </c:pt>
                <c:pt idx="2">
                  <c:v>78</c:v>
                </c:pt>
                <c:pt idx="3">
                  <c:v>284</c:v>
                </c:pt>
                <c:pt idx="4">
                  <c:v>60</c:v>
                </c:pt>
              </c:numCache>
            </c:numRef>
          </c:val>
        </c:ser>
        <c:ser>
          <c:idx val="1"/>
          <c:order val="1"/>
          <c:tx>
            <c:v>垃圾漏判</c:v>
          </c:tx>
          <c:spPr>
            <a:solidFill xmlns:a="http://schemas.openxmlformats.org/drawingml/2006/main">
              <a:srgbClr val="6265D9"/>
            </a:solidFill>
          </c:spPr>
          <c:invertIfNegative val="0"/>
          <c:cat>
            <c:strRef>
              <c:f>'Chart Data'!$C$2:$C$6</c:f>
              <c:strCache>
                <c:ptCount val="5"/>
                <c:pt idx="0">
                  <c:v>NB</c:v>
                </c:pt>
                <c:pt idx="1">
                  <c:v>LR</c:v>
                </c:pt>
                <c:pt idx="2">
                  <c:v>SVM</c:v>
                </c:pt>
                <c:pt idx="3">
                  <c:v>Qwen + LR</c:v>
                </c:pt>
                <c:pt idx="4">
                  <c:v>MacBERT</c:v>
                </c:pt>
              </c:strCache>
            </c:strRef>
          </c:cat>
          <c:val>
            <c:numRef>
              <c:f>'Chart Data'!$D$2:$D$6</c:f>
              <c:numCache>
                <c:formatCode>0</c:formatCode>
                <c:ptCount val="5"/>
                <c:pt idx="0">
                  <c:v>216</c:v>
                </c:pt>
                <c:pt idx="1">
                  <c:v>123</c:v>
                </c:pt>
                <c:pt idx="2">
                  <c:v>56</c:v>
                </c:pt>
                <c:pt idx="3">
                  <c:v>261</c:v>
                </c:pt>
                <c:pt idx="4">
                  <c:v>58</c:v>
                </c:pt>
              </c:numCache>
            </c:numRef>
          </c:val>
        </c:ser>
        <c:dLbls>
          <c:numFmt formatCode="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425">
                  <a:solidFill>
                    <a:srgbClr val="222A40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8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EE2EC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222A40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EE2EC"/>
              </a:solidFill>
              <a:prstDash val="solid"/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57086"/>
                </a:solidFill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425">
              <a:solidFill>
                <a:srgbClr val="657086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4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725" b="1">
                <a:solidFill>
                  <a:srgbClr val="222A40"/>
                </a:solidFill>
              </a:rPr>
              <a:t>主模型概率可靠性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725" b="1">
              <a:solidFill>
                <a:srgbClr val="222A40"/>
              </a:solidFill>
            </a:defRPr>
          </a:pPr>
        </a:p>
      </c:txPr>
    </c:title>
    <c:plotArea>
      <c:scatterChart>
        <c:scatterStyle val="lineMarker"/>
        <c:varyColors val="0"/>
        <c:ser>
          <c:idx val="0"/>
          <c:order val="0"/>
          <c:tx>
            <c:v>理想情况</c:v>
          </c:tx>
          <c:spPr>
            <a:ln xmlns:a="http://schemas.openxmlformats.org/drawingml/2006/main" w="19050">
              <a:solidFill>
                <a:srgbClr val="DEE2EC"/>
              </a:solidFill>
              <a:prstDash val="dash"/>
            </a:ln>
          </c:spPr>
          <c:marker>
            <c:symbol val="none"/>
          </c:marker>
          <c:xVal>
            <c:numRef>
              <c:f>'Chart Data'!$A$2:$A$3</c:f>
              <c:numCache>
                <c:formatCode>General</c:formatCode>
                <c:ptCount val="2"/>
                <c:pt idx="0">
                  <c:v>0</c:v>
                </c:pt>
                <c:pt idx="1">
                  <c:v>1</c:v>
                </c:pt>
              </c:numCache>
            </c:numRef>
          </c:xVal>
          <c:yVal>
            <c:numRef>
              <c:f>'Chart Data'!$B$2:$B$3</c:f>
              <c:numCache>
                <c:formatCode>0%</c:formatCode>
                <c:ptCount val="2"/>
                <c:pt idx="0">
                  <c:v>0</c:v>
                </c:pt>
                <c:pt idx="1">
                  <c:v>1</c:v>
                </c:pt>
              </c:numCache>
            </c:numRef>
          </c:yVal>
        </c:ser>
        <c:ser>
          <c:idx val="1"/>
          <c:order val="1"/>
          <c:tx>
            <c:v>实际区间</c:v>
          </c:tx>
          <c:spPr>
            <a:ln xmlns:a="http://schemas.openxmlformats.org/drawingml/2006/main" w="28575">
              <a:solidFill>
                <a:srgbClr val="6265D9"/>
              </a:solidFill>
            </a:ln>
          </c:spPr>
          <c:marker>
            <c:symbol val="circle"/>
            <c:size val="8"/>
            <c:spPr>
              <a:solidFill xmlns:a="http://schemas.openxmlformats.org/drawingml/2006/main">
                <a:srgbClr val="6265D9"/>
              </a:solidFill>
            </c:spPr>
          </c:marker>
          <c:xVal>
            <c:numRef>
              <c:f>'Chart Data'!$C$2:$C$11</c:f>
              <c:numCache>
                <c:formatCode>General</c:formatCode>
                <c:ptCount val="10"/>
                <c:pt idx="0">
                  <c:v>0.00194938</c:v>
                </c:pt>
                <c:pt idx="1">
                  <c:v>0.13817046</c:v>
                </c:pt>
                <c:pt idx="2">
                  <c:v>0.22753826</c:v>
                </c:pt>
                <c:pt idx="3">
                  <c:v>0.35024556</c:v>
                </c:pt>
                <c:pt idx="4">
                  <c:v>0.47184434</c:v>
                </c:pt>
                <c:pt idx="5">
                  <c:v>0.55990783</c:v>
                </c:pt>
                <c:pt idx="6">
                  <c:v>0.65884952</c:v>
                </c:pt>
                <c:pt idx="7">
                  <c:v>0.75743114</c:v>
                </c:pt>
                <c:pt idx="8">
                  <c:v>0.85972827</c:v>
                </c:pt>
                <c:pt idx="9">
                  <c:v>0.99847257</c:v>
                </c:pt>
              </c:numCache>
            </c:numRef>
          </c:xVal>
          <c:yVal>
            <c:numRef>
              <c:f>'Chart Data'!$D$2:$D$11</c:f>
              <c:numCache>
                <c:formatCode>0%</c:formatCode>
                <c:ptCount val="10"/>
                <c:pt idx="0">
                  <c:v>0.00560156</c:v>
                </c:pt>
                <c:pt idx="1">
                  <c:v>0.75</c:v>
                </c:pt>
                <c:pt idx="2">
                  <c:v>0.75</c:v>
                </c:pt>
                <c:pt idx="3">
                  <c:v>1</c:v>
                </c:pt>
                <c:pt idx="4">
                  <c:v>0.5</c:v>
                </c:pt>
                <c:pt idx="5">
                  <c:v>0.6</c:v>
                </c:pt>
                <c:pt idx="6">
                  <c:v>0.5</c:v>
                </c:pt>
                <c:pt idx="7">
                  <c:v>0.5</c:v>
                </c:pt>
                <c:pt idx="8">
                  <c:v>0.71428571</c:v>
                </c:pt>
                <c:pt idx="9">
                  <c:v>0.99601835</c:v>
                </c:pt>
              </c:numCache>
            </c:numRef>
          </c:yVal>
        </c:ser>
        <c:axId val="48650112"/>
        <c:axId val="48672768"/>
      </c:scatterChart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EE2EC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实际垃圾比例</a:t>
                </a:r>
              </a:p>
            </c:rich>
          </c:tx>
          <c:overlay val="0"/>
        </c:title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57086"/>
                </a:solidFill>
              </a:defRPr>
            </a:pPr>
          </a:p>
        </c:txPr>
        <c:crossAx val="48650112"/>
      </c:valAx>
      <c:valAx>
        <c:axId val="48650112"/>
        <c:scaling>
          <c:orientation val="minMax"/>
          <c:max val="1"/>
          <c:min val="0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平均预测垃圾概率</a:t>
                </a:r>
              </a:p>
            </c:rich>
          </c:tx>
          <c:overlay val="0"/>
        </c:title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57086"/>
                </a:solidFill>
              </a:defRPr>
            </a:pPr>
          </a:p>
        </c:txPr>
        <c:crossAx val="48672768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425">
              <a:solidFill>
                <a:srgbClr val="657086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6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41CAEAF-F329-4D11-B7FF-72B019B62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0050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>
              <a:defRPr sz="3150" b="1">
                <a:solidFill>
                  <a:srgbClr val="222A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22A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22A40"/>
                </a:solidFill>
                <a:latin typeface="Microsoft YaHei"/>
                <a:ea typeface="Microsoft YaHei"/>
                <a:cs typeface="Microsoft YaHei"/>
              </a:rPr>
              <a:t>邮件分类与 Python 数据分析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9219DA-A1C3-47DB-A104-A0C89CCC2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085850"/>
            <a:ext cx="1066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>
              <a:defRPr sz="1650" b="0">
                <a:solidFill>
                  <a:srgbClr val="65708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6570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57086"/>
                </a:solidFill>
                <a:latin typeface="Microsoft YaHei"/>
                <a:ea typeface="Microsoft YaHei"/>
                <a:cs typeface="Microsoft YaHei"/>
              </a:rPr>
              <a:t>从原始邮件，到统计特征，再到可解释的分类结果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1CC39B-99B3-4906-8EC3-62DA38C7B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419850"/>
            <a:ext cx="762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>
              <a:defRPr sz="1200" b="0">
                <a:solidFill>
                  <a:srgbClr val="65708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570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57086"/>
                </a:solidFill>
                <a:latin typeface="Microsoft YaHei"/>
                <a:ea typeface="Microsoft YaHei"/>
                <a:cs typeface="Microsoft YaHei"/>
              </a:rPr>
              <a:t>题目六 · 邮件分类与 Python 数据分析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8DE5A3-94AB-4D94-8B46-8C714185B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6419850"/>
            <a:ext cx="85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>
              <a:defRPr sz="1200" b="0">
                <a:solidFill>
                  <a:srgbClr val="65708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570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57086"/>
                </a:solidFill>
                <a:latin typeface="Microsoft YaHei"/>
                <a:ea typeface="Microsoft YaHei"/>
                <a:cs typeface="Microsoft YaHei"/>
              </a:rPr>
              <a:t>01 / 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BAF995-3BFD-4643-B6E6-D2B172738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71675"/>
            <a:ext cx="76200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>
              <a:defRPr sz="4275" b="1">
                <a:solidFill>
                  <a:srgbClr val="222A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4275" b="1">
                <a:solidFill>
                  <a:srgbClr val="222A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275" b="1">
                <a:solidFill>
                  <a:srgbClr val="222A40"/>
                </a:solidFill>
                <a:latin typeface="Microsoft YaHei"/>
                <a:ea typeface="Microsoft YaHei"/>
                <a:cs typeface="Microsoft YaHei"/>
              </a:rPr>
              <a:t>用数据说明</a:t>
            </a:r>
          </a:p>
          <a:p xmlns:a="http://schemas.openxmlformats.org/drawingml/2006/main">
            <a:pPr>
              <a:defRPr sz="4275" b="1">
                <a:solidFill>
                  <a:srgbClr val="222A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275" b="1">
                <a:solidFill>
                  <a:srgbClr val="222A40"/>
                </a:solidFill>
                <a:latin typeface="Microsoft YaHei"/>
                <a:ea typeface="Microsoft YaHei"/>
                <a:cs typeface="Microsoft YaHei"/>
              </a:rPr>
              <a:t>模型为何这样判断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0C54FE-963D-4B12-9559-54AD21CCA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10025"/>
            <a:ext cx="3381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>
              <a:defRPr sz="3375" b="1">
                <a:solidFill>
                  <a:srgbClr val="6265D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75" b="1">
                <a:solidFill>
                  <a:srgbClr val="6265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75" b="1">
                <a:solidFill>
                  <a:srgbClr val="6265D9"/>
                </a:solidFill>
                <a:latin typeface="Microsoft YaHei"/>
                <a:ea typeface="Microsoft YaHei"/>
                <a:cs typeface="Microsoft YaHei"/>
              </a:rPr>
              <a:t>113,715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7103E0-68F3-4B32-A0C2-F671BF8C4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72025"/>
            <a:ext cx="3381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>
              <a:defRPr sz="1800" b="0">
                <a:solidFill>
                  <a:srgbClr val="65708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6570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57086"/>
                </a:solidFill>
                <a:latin typeface="Microsoft YaHei"/>
                <a:ea typeface="Microsoft YaHei"/>
                <a:cs typeface="Microsoft YaHei"/>
              </a:rPr>
              <a:t>统一邮件数据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EC692E-AEA7-4E0F-87C2-745E41B35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010025"/>
            <a:ext cx="3381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>
              <a:defRPr sz="3375" b="1">
                <a:solidFill>
                  <a:srgbClr val="6265D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75" b="1">
                <a:solidFill>
                  <a:srgbClr val="6265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75" b="1">
                <a:solidFill>
                  <a:srgbClr val="6265D9"/>
                </a:solidFill>
                <a:latin typeface="Microsoft YaHei"/>
                <a:ea typeface="Microsoft YaHei"/>
                <a:cs typeface="Microsoft YaHei"/>
              </a:rPr>
              <a:t>60,497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6BA1BC-39BD-43CA-A9EF-BE00A5FE6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772025"/>
            <a:ext cx="3381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>
              <a:defRPr sz="1800" b="0">
                <a:solidFill>
                  <a:srgbClr val="65708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6570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57086"/>
                </a:solidFill>
                <a:latin typeface="Microsoft YaHei"/>
                <a:ea typeface="Microsoft YaHei"/>
                <a:cs typeface="Microsoft YaHei"/>
              </a:rPr>
              <a:t>仅用于拟合的训练邮件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1B23D9-77AF-4A76-9DF7-0F04DF01F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010025"/>
            <a:ext cx="3381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>
              <a:defRPr sz="3375" b="1">
                <a:solidFill>
                  <a:srgbClr val="6265D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75" b="1">
                <a:solidFill>
                  <a:srgbClr val="6265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75" b="1">
                <a:solidFill>
                  <a:srgbClr val="6265D9"/>
                </a:solidFill>
                <a:latin typeface="Microsoft YaHei"/>
                <a:ea typeface="Microsoft YaHei"/>
                <a:cs typeface="Microsoft YaHei"/>
              </a:rPr>
              <a:t>99.40%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55384B-B0E7-4B85-8759-ADFB0ECF1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772025"/>
            <a:ext cx="3381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>
              <a:defRPr sz="1800" b="0">
                <a:solidFill>
                  <a:srgbClr val="65708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6570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57086"/>
                </a:solidFill>
                <a:latin typeface="Microsoft YaHei"/>
                <a:ea typeface="Microsoft YaHei"/>
                <a:cs typeface="Microsoft YaHei"/>
              </a:rPr>
              <a:t>主模型留出汇总准确率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AB075B-636C-4CAF-9E5A-DF1876897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86425"/>
            <a:ext cx="10668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>
              <a:defRPr sz="2175" b="1">
                <a:solidFill>
                  <a:srgbClr val="222A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222A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22A40"/>
                </a:solidFill>
                <a:latin typeface="Microsoft YaHei"/>
                <a:ea typeface="Microsoft YaHei"/>
                <a:cs typeface="Microsoft YaHei"/>
              </a:rPr>
              <a:t>当前主模型：MacBERT 专项微调</a:t>
            </a:r>
          </a:p>
        </p:txBody>
      </p:sp>
    </p:spTree>
    <p:extLst>
      <p:ext uri="{BB962C8B-B14F-4D97-AF65-F5344CB8AC3E}">
        <p14:creationId xmlns:p14="http://schemas.microsoft.com/office/powerpoint/2010/main" val="143630037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6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724D7F-1C34-45BF-A311-794BBEFB6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0050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>
              <a:defRPr sz="3150" b="1">
                <a:solidFill>
                  <a:srgbClr val="222A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22A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22A40"/>
                </a:solidFill>
                <a:latin typeface="Microsoft YaHei"/>
                <a:ea typeface="Microsoft YaHei"/>
                <a:cs typeface="Microsoft YaHei"/>
              </a:rPr>
              <a:t>数据统一，来源与用途仍然可区分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8E5AF0-7E1B-4C93-932C-4B9FFD82C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085850"/>
            <a:ext cx="1066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>
              <a:defRPr sz="1650" b="0">
                <a:solidFill>
                  <a:srgbClr val="65708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6570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57086"/>
                </a:solidFill>
                <a:latin typeface="Microsoft YaHei"/>
                <a:ea typeface="Microsoft YaHei"/>
                <a:cs typeface="Microsoft YaHei"/>
              </a:rPr>
              <a:t>官方语料 → 校验与解析 → 去重分组 → 统一邮件表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938FE1-0684-4DF7-92A3-476769BE4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419850"/>
            <a:ext cx="762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>
              <a:defRPr sz="1200" b="0">
                <a:solidFill>
                  <a:srgbClr val="65708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570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57086"/>
                </a:solidFill>
                <a:latin typeface="Microsoft YaHei"/>
                <a:ea typeface="Microsoft YaHei"/>
                <a:cs typeface="Microsoft YaHei"/>
              </a:rPr>
              <a:t>题目六 · 邮件分类与 Python 数据分析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D90406-261D-46E6-AE51-F498BB227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6419850"/>
            <a:ext cx="85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>
              <a:defRPr sz="1200" b="0">
                <a:solidFill>
                  <a:srgbClr val="65708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570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57086"/>
                </a:solidFill>
                <a:latin typeface="Microsoft YaHei"/>
                <a:ea typeface="Microsoft YaHei"/>
                <a:cs typeface="Microsoft YaHei"/>
              </a:rPr>
              <a:t>02 / 08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2EEE9DCE-14D2-4CAE-B33F-8883864EF5CC}"/>
              </a:ext>
            </a:extLst>
          </p:cNvPr>
          <p:cNvGraphicFramePr/>
          <p:nvPr/>
        </p:nvGraphicFramePr>
        <p:xfrm>
          <a:off xmlns:a="http://schemas.openxmlformats.org/drawingml/2006/main" x="762000" y="1847850"/>
          <a:ext xmlns:a="http://schemas.openxmlformats.org/drawingml/2006/main" cx="7191375" cy="36957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5e697e1aa384dc2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C81CC5-4D59-4580-B450-ADD77FE71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971675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>
              <a:defRPr sz="2175" b="1">
                <a:solidFill>
                  <a:srgbClr val="6265D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6265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6265D9"/>
                </a:solidFill>
                <a:latin typeface="Microsoft YaHei"/>
                <a:ea typeface="Microsoft YaHei"/>
                <a:cs typeface="Microsoft YaHei"/>
              </a:rPr>
              <a:t>中文与拉丁文本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8D00BA-A426-49FD-96C0-E7E04AE01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543175"/>
            <a:ext cx="3000375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>
              <a:defRPr sz="1800" b="0">
                <a:solidFill>
                  <a:srgbClr val="222A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22A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22A40"/>
                </a:solidFill>
                <a:latin typeface="Microsoft YaHei"/>
                <a:ea typeface="Microsoft YaHei"/>
                <a:cs typeface="Microsoft YaHei"/>
              </a:rPr>
              <a:t>按正文字符比例统计</a:t>
            </a:r>
          </a:p>
          <a:p xmlns:a="http://schemas.openxmlformats.org/drawingml/2006/main">
            <a:pPr>
              <a:defRPr sz="1800" b="0">
                <a:solidFill>
                  <a:srgbClr val="222A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22A40"/>
                </a:solidFill>
                <a:latin typeface="Microsoft YaHei"/>
                <a:ea typeface="Microsoft YaHei"/>
                <a:cs typeface="Microsoft YaHei"/>
              </a:rPr>
              <a:t>来源不直接等于语言</a:t>
            </a:r>
          </a:p>
          <a:p xmlns:a="http://schemas.openxmlformats.org/drawingml/2006/main">
            <a:pPr>
              <a:defRPr sz="1800" b="0">
                <a:solidFill>
                  <a:srgbClr val="222A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22A40"/>
                </a:solidFill>
                <a:latin typeface="Microsoft YaHei"/>
                <a:ea typeface="Microsoft YaHei"/>
                <a:cs typeface="Microsoft YaHei"/>
              </a:rPr>
              <a:t>类内比例避免数量误导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96BEBC-F653-47AF-91F6-D0B3457F4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048125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>
              <a:defRPr sz="2175" b="1">
                <a:solidFill>
                  <a:srgbClr val="6265D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6265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6265D9"/>
                </a:solidFill>
                <a:latin typeface="Microsoft YaHei"/>
                <a:ea typeface="Microsoft YaHei"/>
                <a:cs typeface="Microsoft YaHei"/>
              </a:rPr>
              <a:t>训练与测试分开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9052EF-EAFB-4B10-80B7-4568486F8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619625"/>
            <a:ext cx="2952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>
              <a:defRPr sz="1800" b="0">
                <a:solidFill>
                  <a:srgbClr val="222A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22A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22A40"/>
                </a:solidFill>
                <a:latin typeface="Microsoft YaHei"/>
                <a:ea typeface="Microsoft YaHei"/>
                <a:cs typeface="Microsoft YaHei"/>
              </a:rPr>
              <a:t>同一已识别模板组</a:t>
            </a:r>
          </a:p>
          <a:p xmlns:a="http://schemas.openxmlformats.org/drawingml/2006/main">
            <a:pPr>
              <a:defRPr sz="1800" b="0">
                <a:solidFill>
                  <a:srgbClr val="222A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22A40"/>
                </a:solidFill>
                <a:latin typeface="Microsoft YaHei"/>
                <a:ea typeface="Microsoft YaHei"/>
                <a:cs typeface="Microsoft YaHei"/>
              </a:rPr>
              <a:t>只进入一个用途集合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48D2D8-4D16-4C73-81F6-54F6889F9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1025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>
              <a:defRPr sz="1725" b="0">
                <a:solidFill>
                  <a:srgbClr val="65708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6570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57086"/>
                </a:solidFill>
                <a:latin typeface="Microsoft YaHei"/>
                <a:ea typeface="Microsoft YaHei"/>
                <a:cs typeface="Microsoft YaHei"/>
              </a:rPr>
              <a:t>历史公开语料主要来自 1999–2006 年；现代中文邮箱仍需独立验证。</a:t>
            </a:r>
          </a:p>
        </p:txBody>
      </p:sp>
    </p:spTree>
    <p:extLst>
      <p:ext uri="{BB962C8B-B14F-4D97-AF65-F5344CB8AC3E}">
        <p14:creationId xmlns:p14="http://schemas.microsoft.com/office/powerpoint/2010/main" val="54185187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6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7B3993-8896-4654-B00C-7F8EA57CA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0050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>
              <a:defRPr sz="3150" b="1">
                <a:solidFill>
                  <a:srgbClr val="222A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22A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22A40"/>
                </a:solidFill>
                <a:latin typeface="Microsoft YaHei"/>
                <a:ea typeface="Microsoft YaHei"/>
                <a:cs typeface="Microsoft YaHei"/>
              </a:rPr>
              <a:t>从词频观察到可计算的特征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B9EDA6-E17A-4E83-9D99-F1F269C15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085850"/>
            <a:ext cx="1066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>
              <a:defRPr sz="1650" b="0">
                <a:solidFill>
                  <a:srgbClr val="65708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6570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57086"/>
                </a:solidFill>
                <a:latin typeface="Microsoft YaHei"/>
                <a:ea typeface="Microsoft YaHei"/>
                <a:cs typeface="Microsoft YaHei"/>
              </a:rPr>
              <a:t>类内文档频率：某词出现过的邮件数 ÷ 该类邮件总数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C1E8E8-6CD0-4A80-837B-CF32EAC03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419850"/>
            <a:ext cx="762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>
              <a:defRPr sz="1200" b="0">
                <a:solidFill>
                  <a:srgbClr val="65708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570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57086"/>
                </a:solidFill>
                <a:latin typeface="Microsoft YaHei"/>
                <a:ea typeface="Microsoft YaHei"/>
                <a:cs typeface="Microsoft YaHei"/>
              </a:rPr>
              <a:t>题目六 · 邮件分类与 Python 数据分析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363859-D1E1-4938-9D00-46DE30520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6419850"/>
            <a:ext cx="85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>
              <a:defRPr sz="1200" b="0">
                <a:solidFill>
                  <a:srgbClr val="65708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570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57086"/>
                </a:solidFill>
                <a:latin typeface="Microsoft YaHei"/>
                <a:ea typeface="Microsoft YaHei"/>
                <a:cs typeface="Microsoft YaHei"/>
              </a:rPr>
              <a:t>03 / 08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DBBFBAB4-3853-4993-A202-7FEA63E77582}"/>
              </a:ext>
            </a:extLst>
          </p:cNvPr>
          <p:cNvGraphicFramePr/>
          <p:nvPr/>
        </p:nvGraphicFramePr>
        <p:xfrm>
          <a:off xmlns:a="http://schemas.openxmlformats.org/drawingml/2006/main" x="762000" y="1847850"/>
          <a:ext xmlns:a="http://schemas.openxmlformats.org/drawingml/2006/main" cx="7191375" cy="39147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8ce60d2b6e44855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489164-8B74-4FC5-A86B-C1DC774E4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057400"/>
            <a:ext cx="295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>
              <a:defRPr sz="2325" b="1">
                <a:solidFill>
                  <a:srgbClr val="6265D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6265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6265D9"/>
                </a:solidFill>
                <a:latin typeface="Microsoft YaHei"/>
                <a:ea typeface="Microsoft YaHei"/>
                <a:cs typeface="Microsoft YaHei"/>
              </a:rPr>
              <a:t>pandas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D9C91C-CB8A-4C75-91F5-E64ED5723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590800"/>
            <a:ext cx="3000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>
              <a:defRPr sz="1800" b="0">
                <a:solidFill>
                  <a:srgbClr val="222A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22A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22A40"/>
                </a:solidFill>
                <a:latin typeface="Microsoft YaHei"/>
                <a:ea typeface="Microsoft YaHei"/>
                <a:cs typeface="Microsoft YaHei"/>
              </a:rPr>
              <a:t>分组、交叉统计</a:t>
            </a:r>
          </a:p>
          <a:p xmlns:a="http://schemas.openxmlformats.org/drawingml/2006/main">
            <a:pPr>
              <a:defRPr sz="1800" b="0">
                <a:solidFill>
                  <a:srgbClr val="222A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22A40"/>
                </a:solidFill>
                <a:latin typeface="Microsoft YaHei"/>
                <a:ea typeface="Microsoft YaHei"/>
                <a:cs typeface="Microsoft YaHei"/>
              </a:rPr>
              <a:t>按编号连接预测与原文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5D119B-ECF1-422E-851A-45FA6E685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819525"/>
            <a:ext cx="295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>
              <a:defRPr sz="2325" b="1">
                <a:solidFill>
                  <a:srgbClr val="6265D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6265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6265D9"/>
                </a:solidFill>
                <a:latin typeface="Microsoft YaHei"/>
                <a:ea typeface="Microsoft YaHei"/>
                <a:cs typeface="Microsoft YaHei"/>
              </a:rPr>
              <a:t>NumPy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C9693F-428E-4C78-A523-28D8C446F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352925"/>
            <a:ext cx="30003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>
              <a:defRPr sz="1800" b="0">
                <a:solidFill>
                  <a:srgbClr val="222A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22A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22A40"/>
                </a:solidFill>
                <a:latin typeface="Microsoft YaHei"/>
                <a:ea typeface="Microsoft YaHei"/>
                <a:cs typeface="Microsoft YaHei"/>
              </a:rPr>
              <a:t>计数 → DF → IDF</a:t>
            </a:r>
          </a:p>
          <a:p xmlns:a="http://schemas.openxmlformats.org/drawingml/2006/main">
            <a:pPr>
              <a:defRPr sz="1800" b="0">
                <a:solidFill>
                  <a:srgbClr val="222A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22A40"/>
                </a:solidFill>
                <a:latin typeface="Microsoft YaHei"/>
                <a:ea typeface="Microsoft YaHei"/>
                <a:cs typeface="Microsoft YaHei"/>
              </a:rPr>
              <a:t>TF-IDF 与 sklearn 核对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6CA45F-6456-474C-AFDF-609C6D972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4835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>
              <a:defRPr sz="1725" b="0">
                <a:solidFill>
                  <a:srgbClr val="65708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6570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57086"/>
                </a:solidFill>
                <a:latin typeface="Microsoft YaHei"/>
                <a:ea typeface="Microsoft YaHei"/>
                <a:cs typeface="Microsoft YaHei"/>
              </a:rPr>
              <a:t>词频与词表只从 Train 学习；词语相关性不等于单封邮件的因果解释。</a:t>
            </a:r>
          </a:p>
        </p:txBody>
      </p:sp>
    </p:spTree>
    <p:extLst>
      <p:ext uri="{BB962C8B-B14F-4D97-AF65-F5344CB8AC3E}">
        <p14:creationId xmlns:p14="http://schemas.microsoft.com/office/powerpoint/2010/main" val="157319431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6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C629A0-3A23-4A3D-9846-92FB93061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0050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>
              <a:defRPr sz="3150" b="1">
                <a:solidFill>
                  <a:srgbClr val="222A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22A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22A40"/>
                </a:solidFill>
                <a:latin typeface="Microsoft YaHei"/>
                <a:ea typeface="Microsoft YaHei"/>
                <a:cs typeface="Microsoft YaHei"/>
              </a:rPr>
              <a:t>五种方法，各自解决什么问题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5FFD51-3977-4890-882F-AD583C095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085850"/>
            <a:ext cx="1066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>
              <a:defRPr sz="1650" b="0">
                <a:solidFill>
                  <a:srgbClr val="65708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6570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57086"/>
                </a:solidFill>
                <a:latin typeface="Microsoft YaHei"/>
                <a:ea typeface="Microsoft YaHei"/>
                <a:cs typeface="Microsoft YaHei"/>
              </a:rPr>
              <a:t>比较完整方案；参数量、输入长度与训练方式并不相同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09BD5F-0502-47A1-B4ED-0ECDC97DE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419850"/>
            <a:ext cx="762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>
              <a:defRPr sz="1200" b="0">
                <a:solidFill>
                  <a:srgbClr val="65708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570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57086"/>
                </a:solidFill>
                <a:latin typeface="Microsoft YaHei"/>
                <a:ea typeface="Microsoft YaHei"/>
                <a:cs typeface="Microsoft YaHei"/>
              </a:rPr>
              <a:t>题目六 · 邮件分类与 Python 数据分析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FE7A4F-4C0A-494F-9735-0AF9E6006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6419850"/>
            <a:ext cx="85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>
              <a:defRPr sz="1200" b="0">
                <a:solidFill>
                  <a:srgbClr val="65708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570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57086"/>
                </a:solidFill>
                <a:latin typeface="Microsoft YaHei"/>
                <a:ea typeface="Microsoft YaHei"/>
                <a:cs typeface="Microsoft YaHei"/>
              </a:rPr>
              <a:t>04 / 08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78D206-4854-48EA-AA79-CB02361E9FFD}"/>
              </a:ext>
            </a:extLst>
          </p:cNvPr>
          <p:cNvGraphicFramePr/>
          <p:nvPr/>
        </p:nvGraphicFramePr>
        <p:xfrm>
          <a:off xmlns:a="http://schemas.openxmlformats.org/drawingml/2006/main" x="762000" y="1838325"/>
          <a:ext xmlns:a="http://schemas.openxmlformats.org/drawingml/2006/main" cx="10668000" cy="3476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90750"/>
                <a:gridCol w="4000500"/>
                <a:gridCol w="4476750"/>
              </a:tblGrid>
              <a:tr h="579438">
                <a:tc>
                  <a:txBody>
                    <a:bodyPr lIns="114300" tIns="114300" rIns="114300" bIns="114300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方法</a:t>
                      </a:r>
                    </a:p>
                  </a:txBody>
                  <a:tcPr marL="91440" marR="91440" marT="45720" marB="45720" anchor="ctr">
                    <a:lnL w="19050">
                      <a:solidFill>
                        <a:srgbClr val="F5F6FA"/>
                      </a:solidFill>
                      <a:prstDash val="solid"/>
                    </a:lnL>
                    <a:lnR w="19050">
                      <a:solidFill>
                        <a:srgbClr val="F5F6FA"/>
                      </a:solidFill>
                      <a:prstDash val="solid"/>
                    </a:lnR>
                    <a:lnT w="19050">
                      <a:solidFill>
                        <a:srgbClr val="F5F6FA"/>
                      </a:solidFill>
                      <a:prstDash val="solid"/>
                    </a:lnT>
                    <a:lnB w="19050">
                      <a:solidFill>
                        <a:srgbClr val="F5F6FA"/>
                      </a:solidFill>
                      <a:prstDash val="solid"/>
                    </a:lnB>
                    <a:solidFill>
                      <a:srgbClr val="222A40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邮件如何表示</a:t>
                      </a:r>
                    </a:p>
                  </a:txBody>
                  <a:tcPr marL="91440" marR="91440" marT="45720" marB="45720" anchor="ctr">
                    <a:lnR w="19050">
                      <a:solidFill>
                        <a:srgbClr val="F5F6FA"/>
                      </a:solidFill>
                      <a:prstDash val="solid"/>
                    </a:lnR>
                    <a:lnT w="19050">
                      <a:solidFill>
                        <a:srgbClr val="F5F6FA"/>
                      </a:solidFill>
                      <a:prstDash val="solid"/>
                    </a:lnT>
                    <a:lnB w="19050">
                      <a:solidFill>
                        <a:srgbClr val="F5F6FA"/>
                      </a:solidFill>
                      <a:prstDash val="solid"/>
                    </a:lnB>
                    <a:solidFill>
                      <a:srgbClr val="222A40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哪些部分学习</a:t>
                      </a:r>
                    </a:p>
                  </a:txBody>
                  <a:tcPr marL="91440" marR="91440" marT="45720" marB="45720" anchor="ctr">
                    <a:lnR w="19050">
                      <a:solidFill>
                        <a:srgbClr val="F5F6FA"/>
                      </a:solidFill>
                      <a:prstDash val="solid"/>
                    </a:lnR>
                    <a:lnT w="19050">
                      <a:solidFill>
                        <a:srgbClr val="F5F6FA"/>
                      </a:solidFill>
                      <a:prstDash val="solid"/>
                    </a:lnT>
                    <a:lnB w="19050">
                      <a:solidFill>
                        <a:srgbClr val="F5F6FA"/>
                      </a:solidFill>
                      <a:prstDash val="solid"/>
                    </a:lnB>
                    <a:solidFill>
                      <a:srgbClr val="222A40"/>
                    </a:solidFill>
                  </a:tcPr>
                </a:tc>
              </a:tr>
              <a:tr h="579438"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222A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朴素贝叶斯</a:t>
                      </a:r>
                    </a:p>
                  </a:txBody>
                  <a:tcPr marL="91440" marR="91440" marT="45720" marB="45720" anchor="ctr">
                    <a:lnL w="19050">
                      <a:solidFill>
                        <a:srgbClr val="F5F6FA"/>
                      </a:solidFill>
                      <a:prstDash val="solid"/>
                    </a:lnL>
                    <a:lnR w="19050">
                      <a:solidFill>
                        <a:srgbClr val="F5F6FA"/>
                      </a:solidFill>
                      <a:prstDash val="solid"/>
                    </a:lnR>
                    <a:lnB w="19050">
                      <a:solidFill>
                        <a:srgbClr val="F5F6F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222A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词 TF-IDF</a:t>
                      </a:r>
                    </a:p>
                  </a:txBody>
                  <a:tcPr marL="91440" marR="91440" marT="45720" marB="45720" anchor="ctr">
                    <a:lnR w="19050">
                      <a:solidFill>
                        <a:srgbClr val="F5F6FA"/>
                      </a:solidFill>
                      <a:prstDash val="solid"/>
                    </a:lnR>
                    <a:lnB w="19050">
                      <a:solidFill>
                        <a:srgbClr val="F5F6F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222A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每类的词统计</a:t>
                      </a:r>
                    </a:p>
                  </a:txBody>
                  <a:tcPr marL="91440" marR="91440" marT="45720" marB="45720" anchor="ctr">
                    <a:lnR w="19050">
                      <a:solidFill>
                        <a:srgbClr val="F5F6FA"/>
                      </a:solidFill>
                      <a:prstDash val="solid"/>
                    </a:lnR>
                    <a:lnB w="19050">
                      <a:solidFill>
                        <a:srgbClr val="F5F6F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9438"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222A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逻辑回归</a:t>
                      </a:r>
                    </a:p>
                  </a:txBody>
                  <a:tcPr marL="91440" marR="91440" marT="45720" marB="45720" anchor="ctr">
                    <a:lnL w="19050">
                      <a:solidFill>
                        <a:srgbClr val="F5F6FA"/>
                      </a:solidFill>
                      <a:prstDash val="solid"/>
                    </a:lnL>
                    <a:lnR w="19050">
                      <a:solidFill>
                        <a:srgbClr val="F5F6FA"/>
                      </a:solidFill>
                      <a:prstDash val="solid"/>
                    </a:lnR>
                    <a:lnB w="19050">
                      <a:solidFill>
                        <a:srgbClr val="F5F6FA"/>
                      </a:solidFill>
                      <a:prstDash val="solid"/>
                    </a:lnB>
                    <a:solidFill>
                      <a:srgbClr val="EBEDF6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222A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相同词 TF-IDF</a:t>
                      </a:r>
                    </a:p>
                  </a:txBody>
                  <a:tcPr marL="91440" marR="91440" marT="45720" marB="45720" anchor="ctr">
                    <a:lnR w="19050">
                      <a:solidFill>
                        <a:srgbClr val="F5F6FA"/>
                      </a:solidFill>
                      <a:prstDash val="solid"/>
                    </a:lnR>
                    <a:lnB w="19050">
                      <a:solidFill>
                        <a:srgbClr val="F5F6FA"/>
                      </a:solidFill>
                      <a:prstDash val="solid"/>
                    </a:lnB>
                    <a:solidFill>
                      <a:srgbClr val="EBEDF6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222A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词权重与偏置</a:t>
                      </a:r>
                    </a:p>
                  </a:txBody>
                  <a:tcPr marL="91440" marR="91440" marT="45720" marB="45720" anchor="ctr">
                    <a:lnR w="19050">
                      <a:solidFill>
                        <a:srgbClr val="F5F6FA"/>
                      </a:solidFill>
                      <a:prstDash val="solid"/>
                    </a:lnR>
                    <a:lnB w="19050">
                      <a:solidFill>
                        <a:srgbClr val="F5F6FA"/>
                      </a:solidFill>
                      <a:prstDash val="solid"/>
                    </a:lnB>
                    <a:solidFill>
                      <a:srgbClr val="EBEDF6"/>
                    </a:solidFill>
                  </a:tcPr>
                </a:tc>
              </a:tr>
              <a:tr h="579438"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222A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多粒度 SVM</a:t>
                      </a:r>
                    </a:p>
                  </a:txBody>
                  <a:tcPr marL="91440" marR="91440" marT="45720" marB="45720" anchor="ctr">
                    <a:lnL w="19050">
                      <a:solidFill>
                        <a:srgbClr val="F5F6FA"/>
                      </a:solidFill>
                      <a:prstDash val="solid"/>
                    </a:lnL>
                    <a:lnR w="19050">
                      <a:solidFill>
                        <a:srgbClr val="F5F6FA"/>
                      </a:solidFill>
                      <a:prstDash val="solid"/>
                    </a:lnR>
                    <a:lnB w="19050">
                      <a:solidFill>
                        <a:srgbClr val="F5F6F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222A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词 + 字符 1–3 元组 + 主题</a:t>
                      </a:r>
                    </a:p>
                  </a:txBody>
                  <a:tcPr marL="91440" marR="91440" marT="45720" marB="45720" anchor="ctr">
                    <a:lnR w="19050">
                      <a:solidFill>
                        <a:srgbClr val="F5F6FA"/>
                      </a:solidFill>
                      <a:prstDash val="solid"/>
                    </a:lnR>
                    <a:lnB w="19050">
                      <a:solidFill>
                        <a:srgbClr val="F5F6F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222A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最大间隔分类边界</a:t>
                      </a:r>
                    </a:p>
                  </a:txBody>
                  <a:tcPr marL="91440" marR="91440" marT="45720" marB="45720" anchor="ctr">
                    <a:lnR w="19050">
                      <a:solidFill>
                        <a:srgbClr val="F5F6FA"/>
                      </a:solidFill>
                      <a:prstDash val="solid"/>
                    </a:lnR>
                    <a:lnB w="19050">
                      <a:solidFill>
                        <a:srgbClr val="F5F6F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9438"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222A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Qwen + LR</a:t>
                      </a:r>
                    </a:p>
                  </a:txBody>
                  <a:tcPr marL="91440" marR="91440" marT="45720" marB="45720" anchor="ctr">
                    <a:lnL w="19050">
                      <a:solidFill>
                        <a:srgbClr val="F5F6FA"/>
                      </a:solidFill>
                      <a:prstDash val="solid"/>
                    </a:lnL>
                    <a:lnR w="19050">
                      <a:solidFill>
                        <a:srgbClr val="F5F6FA"/>
                      </a:solidFill>
                      <a:prstDash val="solid"/>
                    </a:lnR>
                    <a:lnB w="19050">
                      <a:solidFill>
                        <a:srgbClr val="F5F6FA"/>
                      </a:solidFill>
                      <a:prstDash val="solid"/>
                    </a:lnB>
                    <a:solidFill>
                      <a:srgbClr val="EBEDF6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222A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1024 维语义向量</a:t>
                      </a:r>
                    </a:p>
                  </a:txBody>
                  <a:tcPr marL="91440" marR="91440" marT="45720" marB="45720" anchor="ctr">
                    <a:lnR w="19050">
                      <a:solidFill>
                        <a:srgbClr val="F5F6FA"/>
                      </a:solidFill>
                      <a:prstDash val="solid"/>
                    </a:lnR>
                    <a:lnB w="19050">
                      <a:solidFill>
                        <a:srgbClr val="F5F6FA"/>
                      </a:solidFill>
                      <a:prstDash val="solid"/>
                    </a:lnB>
                    <a:solidFill>
                      <a:srgbClr val="EBEDF6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222A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冻结 0.6B 编码器，训练分类头</a:t>
                      </a:r>
                    </a:p>
                  </a:txBody>
                  <a:tcPr marL="91440" marR="91440" marT="45720" marB="45720" anchor="ctr">
                    <a:lnR w="19050">
                      <a:solidFill>
                        <a:srgbClr val="F5F6FA"/>
                      </a:solidFill>
                      <a:prstDash val="solid"/>
                    </a:lnR>
                    <a:lnB w="19050">
                      <a:solidFill>
                        <a:srgbClr val="F5F6FA"/>
                      </a:solidFill>
                      <a:prstDash val="solid"/>
                    </a:lnB>
                    <a:solidFill>
                      <a:srgbClr val="EBEDF6"/>
                    </a:solidFill>
                  </a:tcPr>
                </a:tc>
              </a:tr>
              <a:tr h="579438"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222A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MacBERT</a:t>
                      </a:r>
                    </a:p>
                  </a:txBody>
                  <a:tcPr marL="91440" marR="91440" marT="45720" marB="45720" anchor="ctr">
                    <a:lnL w="19050">
                      <a:solidFill>
                        <a:srgbClr val="F5F6FA"/>
                      </a:solidFill>
                      <a:prstDash val="solid"/>
                    </a:lnL>
                    <a:lnR w="19050">
                      <a:solidFill>
                        <a:srgbClr val="F5F6FA"/>
                      </a:solidFill>
                      <a:prstDash val="solid"/>
                    </a:lnR>
                    <a:lnB w="19050">
                      <a:solidFill>
                        <a:srgbClr val="F5F6F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222A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主题 + 正文首尾，共 512 词元</a:t>
                      </a:r>
                    </a:p>
                  </a:txBody>
                  <a:tcPr marL="91440" marR="91440" marT="45720" marB="45720" anchor="ctr">
                    <a:lnR w="19050">
                      <a:solidFill>
                        <a:srgbClr val="F5F6FA"/>
                      </a:solidFill>
                      <a:prstDash val="solid"/>
                    </a:lnR>
                    <a:lnB w="19050">
                      <a:solidFill>
                        <a:srgbClr val="F5F6F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222A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编码器与二分类头一起微调</a:t>
                      </a:r>
                    </a:p>
                  </a:txBody>
                  <a:tcPr marL="91440" marR="91440" marT="45720" marB="45720" anchor="ctr">
                    <a:lnR w="19050">
                      <a:solidFill>
                        <a:srgbClr val="F5F6FA"/>
                      </a:solidFill>
                      <a:prstDash val="solid"/>
                    </a:lnR>
                    <a:lnB w="19050">
                      <a:solidFill>
                        <a:srgbClr val="F5F6F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45EC44-B7CD-48BD-858B-0502F41BE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81650"/>
            <a:ext cx="1066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>
              <a:defRPr sz="1725" b="0">
                <a:solidFill>
                  <a:srgbClr val="65708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6570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57086"/>
                </a:solidFill>
                <a:latin typeface="Microsoft YaHei"/>
                <a:ea typeface="Microsoft YaHei"/>
                <a:cs typeface="Microsoft YaHei"/>
              </a:rPr>
              <a:t>Qwen 输入上限 1024 词元；Embedding 是把文本编码为可比较的数值向量。</a:t>
            </a:r>
          </a:p>
        </p:txBody>
      </p:sp>
    </p:spTree>
    <p:extLst>
      <p:ext uri="{BB962C8B-B14F-4D97-AF65-F5344CB8AC3E}">
        <p14:creationId xmlns:p14="http://schemas.microsoft.com/office/powerpoint/2010/main" val="124210289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6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BD21AF-8915-4C96-85DF-8D8EBDF8D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0050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>
              <a:defRPr sz="3150" b="1">
                <a:solidFill>
                  <a:srgbClr val="222A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22A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22A40"/>
                </a:solidFill>
                <a:latin typeface="Microsoft YaHei"/>
                <a:ea typeface="Microsoft YaHei"/>
                <a:cs typeface="Microsoft YaHei"/>
              </a:rPr>
              <a:t>用错误封数看清模型差异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7B8F7B-AB05-4437-9B26-34A5963F5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085850"/>
            <a:ext cx="1066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>
              <a:defRPr sz="1650" b="0">
                <a:solidFill>
                  <a:srgbClr val="65708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6570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57086"/>
                </a:solidFill>
                <a:latin typeface="Microsoft YaHei"/>
                <a:ea typeface="Microsoft YaHei"/>
                <a:cs typeface="Microsoft YaHei"/>
              </a:rPr>
              <a:t>相同的 19,820 封留出邮件；阈值在 Policy 中预先确定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AA154D-011F-4C39-8377-F89C0BDE4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419850"/>
            <a:ext cx="762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>
              <a:defRPr sz="1200" b="0">
                <a:solidFill>
                  <a:srgbClr val="65708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570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57086"/>
                </a:solidFill>
                <a:latin typeface="Microsoft YaHei"/>
                <a:ea typeface="Microsoft YaHei"/>
                <a:cs typeface="Microsoft YaHei"/>
              </a:rPr>
              <a:t>题目六 · 邮件分类与 Python 数据分析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077AFD-247D-4A90-BE60-CEDA55517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6419850"/>
            <a:ext cx="85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>
              <a:defRPr sz="1200" b="0">
                <a:solidFill>
                  <a:srgbClr val="65708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570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57086"/>
                </a:solidFill>
                <a:latin typeface="Microsoft YaHei"/>
                <a:ea typeface="Microsoft YaHei"/>
                <a:cs typeface="Microsoft YaHei"/>
              </a:rPr>
              <a:t>05 / 08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0B9A5DF9-A492-493C-9D55-17721FDEF1CD}"/>
              </a:ext>
            </a:extLst>
          </p:cNvPr>
          <p:cNvGraphicFramePr/>
          <p:nvPr/>
        </p:nvGraphicFramePr>
        <p:xfrm>
          <a:off xmlns:a="http://schemas.openxmlformats.org/drawingml/2006/main" x="762000" y="1857375"/>
          <a:ext xmlns:a="http://schemas.openxmlformats.org/drawingml/2006/main" cx="7191375" cy="3905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b98ba537c7b49c2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5012DE-3AE2-48D0-9B2D-9F0F69609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076450"/>
            <a:ext cx="295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>
              <a:defRPr sz="1875" b="0">
                <a:solidFill>
                  <a:srgbClr val="65708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6570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57086"/>
                </a:solidFill>
                <a:latin typeface="Microsoft YaHei"/>
                <a:ea typeface="Microsoft YaHei"/>
                <a:cs typeface="Microsoft YaHei"/>
              </a:rPr>
              <a:t>当前主模型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09E4FA-401A-4952-AD0C-3C2FD5168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562225"/>
            <a:ext cx="2952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>
              <a:defRPr sz="2550" b="1">
                <a:solidFill>
                  <a:srgbClr val="6265D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6265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6265D9"/>
                </a:solidFill>
                <a:latin typeface="Microsoft YaHei"/>
                <a:ea typeface="Microsoft YaHei"/>
                <a:cs typeface="Microsoft YaHei"/>
              </a:rPr>
              <a:t>MacBERT 专项微调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BDE506-5104-4D8F-821B-563EDA400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648075"/>
            <a:ext cx="2952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>
              <a:defRPr sz="3525" b="1">
                <a:solidFill>
                  <a:srgbClr val="222A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525" b="1">
                <a:solidFill>
                  <a:srgbClr val="222A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222A40"/>
                </a:solidFill>
                <a:latin typeface="Microsoft YaHei"/>
                <a:ea typeface="Microsoft YaHei"/>
                <a:cs typeface="Microsoft YaHei"/>
              </a:rPr>
              <a:t>99.40%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CD238D-A786-44F1-B7B2-BBE9CE970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314825"/>
            <a:ext cx="2952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>
              <a:defRPr sz="1725" b="0">
                <a:solidFill>
                  <a:srgbClr val="65708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6570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57086"/>
                </a:solidFill>
                <a:latin typeface="Microsoft YaHei"/>
                <a:ea typeface="Microsoft YaHei"/>
                <a:cs typeface="Microsoft YaHei"/>
              </a:rPr>
              <a:t>准确率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92301F-6005-4795-88B9-5E8CEA412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5029200"/>
            <a:ext cx="3000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>
              <a:defRPr sz="1800" b="0">
                <a:solidFill>
                  <a:srgbClr val="222A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22A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22A40"/>
                </a:solidFill>
                <a:latin typeface="Microsoft YaHei"/>
                <a:ea typeface="Microsoft YaHei"/>
                <a:cs typeface="Microsoft YaHei"/>
              </a:rPr>
              <a:t>单封推理中位数 13.1 ms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5A7F09-41CB-4B1F-B0CB-BBA0DC5CA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76925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>
              <a:defRPr sz="1725" b="0">
                <a:solidFill>
                  <a:srgbClr val="65708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6570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57086"/>
                </a:solidFill>
                <a:latin typeface="Microsoft YaHei"/>
                <a:ea typeface="Microsoft YaHei"/>
                <a:cs typeface="Microsoft YaHei"/>
              </a:rPr>
              <a:t>整体分数之外，同时比较正常误拦、垃圾漏判、耗时与显存。</a:t>
            </a:r>
          </a:p>
        </p:txBody>
      </p:sp>
    </p:spTree>
    <p:extLst>
      <p:ext uri="{BB962C8B-B14F-4D97-AF65-F5344CB8AC3E}">
        <p14:creationId xmlns:p14="http://schemas.microsoft.com/office/powerpoint/2010/main" val="151238978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6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158BD3-7CE4-43E7-8C96-E37CCB318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0050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>
              <a:defRPr sz="3150" b="1">
                <a:solidFill>
                  <a:srgbClr val="222A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22A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22A40"/>
                </a:solidFill>
                <a:latin typeface="Microsoft YaHei"/>
                <a:ea typeface="Microsoft YaHei"/>
                <a:cs typeface="Microsoft YaHei"/>
              </a:rPr>
              <a:t>分析错误落在哪里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36E2EB-5E1E-40A1-97D1-C697E891C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085850"/>
            <a:ext cx="1066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>
              <a:defRPr sz="1650" b="0">
                <a:solidFill>
                  <a:srgbClr val="65708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6570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57086"/>
                </a:solidFill>
                <a:latin typeface="Microsoft YaHei"/>
                <a:ea typeface="Microsoft YaHei"/>
                <a:cs typeface="Microsoft YaHei"/>
              </a:rPr>
              <a:t>来源、文字类型、长度、编码质量与实际截断比例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C9FC64-46C3-4034-8F45-BFB220E79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419850"/>
            <a:ext cx="762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>
              <a:defRPr sz="1200" b="0">
                <a:solidFill>
                  <a:srgbClr val="65708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570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57086"/>
                </a:solidFill>
                <a:latin typeface="Microsoft YaHei"/>
                <a:ea typeface="Microsoft YaHei"/>
                <a:cs typeface="Microsoft YaHei"/>
              </a:rPr>
              <a:t>题目六 · 邮件分类与 Python 数据分析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A7CF7C-358F-4CB8-8C9E-CF0AEB279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6419850"/>
            <a:ext cx="85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>
              <a:defRPr sz="1200" b="0">
                <a:solidFill>
                  <a:srgbClr val="65708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570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57086"/>
                </a:solidFill>
                <a:latin typeface="Microsoft YaHei"/>
                <a:ea typeface="Microsoft YaHei"/>
                <a:cs typeface="Microsoft YaHei"/>
              </a:rPr>
              <a:t>06 / 08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424612-8431-4419-A0FD-135CDA7D71E7}"/>
              </a:ext>
            </a:extLst>
          </p:cNvPr>
          <p:cNvGraphicFramePr/>
          <p:nvPr/>
        </p:nvGraphicFramePr>
        <p:xfrm>
          <a:off xmlns:a="http://schemas.openxmlformats.org/drawingml/2006/main" x="762000" y="1905000"/>
          <a:ext xmlns:a="http://schemas.openxmlformats.org/drawingml/2006/main" cx="10668000" cy="24003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238500"/>
                <a:gridCol w="2095500"/>
                <a:gridCol w="2095500"/>
                <a:gridCol w="3238500"/>
              </a:tblGrid>
              <a:tr h="600075">
                <a:tc>
                  <a:txBody>
                    <a:bodyPr lIns="114300" tIns="114300" rIns="114300" bIns="114300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邮件来源</a:t>
                      </a:r>
                    </a:p>
                  </a:txBody>
                  <a:tcPr marL="91440" marR="91440" marT="45720" marB="45720" anchor="ctr">
                    <a:lnL w="19050">
                      <a:solidFill>
                        <a:srgbClr val="F5F6FA"/>
                      </a:solidFill>
                      <a:prstDash val="solid"/>
                    </a:lnL>
                    <a:lnR w="19050">
                      <a:solidFill>
                        <a:srgbClr val="F5F6FA"/>
                      </a:solidFill>
                      <a:prstDash val="solid"/>
                    </a:lnR>
                    <a:lnT w="19050">
                      <a:solidFill>
                        <a:srgbClr val="F5F6FA"/>
                      </a:solidFill>
                      <a:prstDash val="solid"/>
                    </a:lnT>
                    <a:lnB w="19050">
                      <a:solidFill>
                        <a:srgbClr val="F5F6FA"/>
                      </a:solidFill>
                      <a:prstDash val="solid"/>
                    </a:lnB>
                    <a:solidFill>
                      <a:srgbClr val="222A40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留出邮件数</a:t>
                      </a:r>
                    </a:p>
                  </a:txBody>
                  <a:tcPr marL="91440" marR="91440" marT="45720" marB="45720" anchor="ctr">
                    <a:lnR w="19050">
                      <a:solidFill>
                        <a:srgbClr val="F5F6FA"/>
                      </a:solidFill>
                      <a:prstDash val="solid"/>
                    </a:lnR>
                    <a:lnT w="19050">
                      <a:solidFill>
                        <a:srgbClr val="F5F6FA"/>
                      </a:solidFill>
                      <a:prstDash val="solid"/>
                    </a:lnT>
                    <a:lnB w="19050">
                      <a:solidFill>
                        <a:srgbClr val="F5F6FA"/>
                      </a:solidFill>
                      <a:prstDash val="solid"/>
                    </a:lnB>
                    <a:solidFill>
                      <a:srgbClr val="222A40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错误率</a:t>
                      </a:r>
                    </a:p>
                  </a:txBody>
                  <a:tcPr marL="91440" marR="91440" marT="45720" marB="45720" anchor="ctr">
                    <a:lnR w="19050">
                      <a:solidFill>
                        <a:srgbClr val="F5F6FA"/>
                      </a:solidFill>
                      <a:prstDash val="solid"/>
                    </a:lnR>
                    <a:lnT w="19050">
                      <a:solidFill>
                        <a:srgbClr val="F5F6FA"/>
                      </a:solidFill>
                      <a:prstDash val="solid"/>
                    </a:lnT>
                    <a:lnB w="19050">
                      <a:solidFill>
                        <a:srgbClr val="F5F6FA"/>
                      </a:solidFill>
                      <a:prstDash val="solid"/>
                    </a:lnB>
                    <a:solidFill>
                      <a:srgbClr val="222A40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正常误拦 / 垃圾漏判</a:t>
                      </a:r>
                    </a:p>
                  </a:txBody>
                  <a:tcPr marL="91440" marR="91440" marT="45720" marB="45720" anchor="ctr">
                    <a:lnR w="19050">
                      <a:solidFill>
                        <a:srgbClr val="F5F6FA"/>
                      </a:solidFill>
                      <a:prstDash val="solid"/>
                    </a:lnR>
                    <a:lnT w="19050">
                      <a:solidFill>
                        <a:srgbClr val="F5F6FA"/>
                      </a:solidFill>
                      <a:prstDash val="solid"/>
                    </a:lnT>
                    <a:lnB w="19050">
                      <a:solidFill>
                        <a:srgbClr val="F5F6FA"/>
                      </a:solidFill>
                      <a:prstDash val="solid"/>
                    </a:lnB>
                    <a:solidFill>
                      <a:srgbClr val="222A40"/>
                    </a:solidFill>
                  </a:tcPr>
                </a:tc>
              </a:tr>
              <a:tr h="600075"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222A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Apache SpamAssassin</a:t>
                      </a:r>
                    </a:p>
                  </a:txBody>
                  <a:tcPr marL="91440" marR="91440" marT="45720" marB="45720" anchor="ctr">
                    <a:lnL w="19050">
                      <a:solidFill>
                        <a:srgbClr val="F5F6FA"/>
                      </a:solidFill>
                      <a:prstDash val="solid"/>
                    </a:lnL>
                    <a:lnR w="19050">
                      <a:solidFill>
                        <a:srgbClr val="F5F6FA"/>
                      </a:solidFill>
                      <a:prstDash val="solid"/>
                    </a:lnR>
                    <a:lnB w="19050">
                      <a:solidFill>
                        <a:srgbClr val="F5F6F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222A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1,225</a:t>
                      </a:r>
                    </a:p>
                  </a:txBody>
                  <a:tcPr marL="91440" marR="91440" marT="45720" marB="45720" anchor="ctr">
                    <a:lnR w="19050">
                      <a:solidFill>
                        <a:srgbClr val="F5F6FA"/>
                      </a:solidFill>
                      <a:prstDash val="solid"/>
                    </a:lnR>
                    <a:lnB w="19050">
                      <a:solidFill>
                        <a:srgbClr val="F5F6F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222A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2.61%</a:t>
                      </a:r>
                    </a:p>
                  </a:txBody>
                  <a:tcPr marL="91440" marR="91440" marT="45720" marB="45720" anchor="ctr">
                    <a:lnR w="19050">
                      <a:solidFill>
                        <a:srgbClr val="F5F6FA"/>
                      </a:solidFill>
                      <a:prstDash val="solid"/>
                    </a:lnR>
                    <a:lnB w="19050">
                      <a:solidFill>
                        <a:srgbClr val="F5F6F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222A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18 / 14</a:t>
                      </a:r>
                    </a:p>
                  </a:txBody>
                  <a:tcPr marL="91440" marR="91440" marT="45720" marB="45720" anchor="ctr">
                    <a:lnR w="19050">
                      <a:solidFill>
                        <a:srgbClr val="F5F6FA"/>
                      </a:solidFill>
                      <a:prstDash val="solid"/>
                    </a:lnR>
                    <a:lnB w="19050">
                      <a:solidFill>
                        <a:srgbClr val="F5F6F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0075"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222A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Enron-Spam</a:t>
                      </a:r>
                    </a:p>
                  </a:txBody>
                  <a:tcPr marL="91440" marR="91440" marT="45720" marB="45720" anchor="ctr">
                    <a:lnL w="19050">
                      <a:solidFill>
                        <a:srgbClr val="F5F6FA"/>
                      </a:solidFill>
                      <a:prstDash val="solid"/>
                    </a:lnL>
                    <a:lnR w="19050">
                      <a:solidFill>
                        <a:srgbClr val="F5F6FA"/>
                      </a:solidFill>
                      <a:prstDash val="solid"/>
                    </a:lnR>
                    <a:lnB w="19050">
                      <a:solidFill>
                        <a:srgbClr val="F5F6FA"/>
                      </a:solidFill>
                      <a:prstDash val="solid"/>
                    </a:lnB>
                    <a:solidFill>
                      <a:srgbClr val="EBEDF6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222A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8,884</a:t>
                      </a:r>
                    </a:p>
                  </a:txBody>
                  <a:tcPr marL="91440" marR="91440" marT="45720" marB="45720" anchor="ctr">
                    <a:lnR w="19050">
                      <a:solidFill>
                        <a:srgbClr val="F5F6FA"/>
                      </a:solidFill>
                      <a:prstDash val="solid"/>
                    </a:lnR>
                    <a:lnB w="19050">
                      <a:solidFill>
                        <a:srgbClr val="F5F6FA"/>
                      </a:solidFill>
                      <a:prstDash val="solid"/>
                    </a:lnB>
                    <a:solidFill>
                      <a:srgbClr val="EBEDF6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222A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0.88%</a:t>
                      </a:r>
                    </a:p>
                  </a:txBody>
                  <a:tcPr marL="91440" marR="91440" marT="45720" marB="45720" anchor="ctr">
                    <a:lnR w="19050">
                      <a:solidFill>
                        <a:srgbClr val="F5F6FA"/>
                      </a:solidFill>
                      <a:prstDash val="solid"/>
                    </a:lnR>
                    <a:lnB w="19050">
                      <a:solidFill>
                        <a:srgbClr val="F5F6FA"/>
                      </a:solidFill>
                      <a:prstDash val="solid"/>
                    </a:lnB>
                    <a:solidFill>
                      <a:srgbClr val="EBEDF6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222A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37 / 41</a:t>
                      </a:r>
                    </a:p>
                  </a:txBody>
                  <a:tcPr marL="91440" marR="91440" marT="45720" marB="45720" anchor="ctr">
                    <a:lnR w="19050">
                      <a:solidFill>
                        <a:srgbClr val="F5F6FA"/>
                      </a:solidFill>
                      <a:prstDash val="solid"/>
                    </a:lnR>
                    <a:lnB w="19050">
                      <a:solidFill>
                        <a:srgbClr val="F5F6FA"/>
                      </a:solidFill>
                      <a:prstDash val="solid"/>
                    </a:lnB>
                    <a:solidFill>
                      <a:srgbClr val="EBEDF6"/>
                    </a:solidFill>
                  </a:tcPr>
                </a:tc>
              </a:tr>
              <a:tr h="600075"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222A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TREC06C</a:t>
                      </a:r>
                    </a:p>
                  </a:txBody>
                  <a:tcPr marL="91440" marR="91440" marT="45720" marB="45720" anchor="ctr">
                    <a:lnL w="19050">
                      <a:solidFill>
                        <a:srgbClr val="F5F6FA"/>
                      </a:solidFill>
                      <a:prstDash val="solid"/>
                    </a:lnL>
                    <a:lnR w="19050">
                      <a:solidFill>
                        <a:srgbClr val="F5F6FA"/>
                      </a:solidFill>
                      <a:prstDash val="solid"/>
                    </a:lnR>
                    <a:lnB w="19050">
                      <a:solidFill>
                        <a:srgbClr val="F5F6F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222A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9,711</a:t>
                      </a:r>
                    </a:p>
                  </a:txBody>
                  <a:tcPr marL="91440" marR="91440" marT="45720" marB="45720" anchor="ctr">
                    <a:lnR w="19050">
                      <a:solidFill>
                        <a:srgbClr val="F5F6FA"/>
                      </a:solidFill>
                      <a:prstDash val="solid"/>
                    </a:lnR>
                    <a:lnB w="19050">
                      <a:solidFill>
                        <a:srgbClr val="F5F6F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222A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0.08%</a:t>
                      </a:r>
                    </a:p>
                  </a:txBody>
                  <a:tcPr marL="91440" marR="91440" marT="45720" marB="45720" anchor="ctr">
                    <a:lnR w="19050">
                      <a:solidFill>
                        <a:srgbClr val="F5F6FA"/>
                      </a:solidFill>
                      <a:prstDash val="solid"/>
                    </a:lnR>
                    <a:lnB w="19050">
                      <a:solidFill>
                        <a:srgbClr val="F5F6F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222A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 / 3</a:t>
                      </a:r>
                    </a:p>
                  </a:txBody>
                  <a:tcPr marL="91440" marR="91440" marT="45720" marB="45720" anchor="ctr">
                    <a:lnR w="19050">
                      <a:solidFill>
                        <a:srgbClr val="F5F6FA"/>
                      </a:solidFill>
                      <a:prstDash val="solid"/>
                    </a:lnR>
                    <a:lnB w="19050">
                      <a:solidFill>
                        <a:srgbClr val="F5F6F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FCAB4C-86D5-438C-B7E7-D881BCCCC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05350"/>
            <a:ext cx="476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>
              <a:defRPr sz="2325" b="1">
                <a:solidFill>
                  <a:srgbClr val="6265D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6265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6265D9"/>
                </a:solidFill>
                <a:latin typeface="Microsoft YaHei"/>
                <a:ea typeface="Microsoft YaHei"/>
                <a:cs typeface="Microsoft YaHei"/>
              </a:rPr>
              <a:t>同来源的新邮件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74A95C-E71B-4DCF-9D8F-E0EFAB9C6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48275"/>
            <a:ext cx="4857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>
              <a:defRPr sz="1875" b="0">
                <a:solidFill>
                  <a:srgbClr val="222A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22A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22A40"/>
                </a:solidFill>
                <a:latin typeface="Microsoft YaHei"/>
                <a:ea typeface="Microsoft YaHei"/>
                <a:cs typeface="Microsoft YaHei"/>
              </a:rPr>
              <a:t>新增来源按模板组留出；</a:t>
            </a:r>
          </a:p>
          <a:p xmlns:a="http://schemas.openxmlformats.org/drawingml/2006/main">
            <a:pPr>
              <a:defRPr sz="1875" b="0">
                <a:solidFill>
                  <a:srgbClr val="222A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22A40"/>
                </a:solidFill>
                <a:latin typeface="Microsoft YaHei"/>
                <a:ea typeface="Microsoft YaHei"/>
                <a:cs typeface="Microsoft YaHei"/>
              </a:rPr>
              <a:t>训练已见过该来源的其他邮件。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17C6AD-0173-412D-9D4F-A564FE3D9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4705350"/>
            <a:ext cx="476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>
              <a:defRPr sz="2325" b="1">
                <a:solidFill>
                  <a:srgbClr val="6265D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6265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6265D9"/>
                </a:solidFill>
                <a:latin typeface="Microsoft YaHei"/>
                <a:ea typeface="Microsoft YaHei"/>
                <a:cs typeface="Microsoft YaHei"/>
              </a:rPr>
              <a:t>结论的适用范围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D13AFA-A732-4CBA-B222-36AB36DB6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5248275"/>
            <a:ext cx="4857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>
              <a:defRPr sz="1875" b="0">
                <a:solidFill>
                  <a:srgbClr val="222A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22A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22A40"/>
                </a:solidFill>
                <a:latin typeface="Microsoft YaHei"/>
                <a:ea typeface="Microsoft YaHei"/>
                <a:cs typeface="Microsoft YaHei"/>
              </a:rPr>
              <a:t>固定留出集回顾评估</a:t>
            </a:r>
          </a:p>
          <a:p xmlns:a="http://schemas.openxmlformats.org/drawingml/2006/main">
            <a:pPr>
              <a:defRPr sz="1875" b="0">
                <a:solidFill>
                  <a:srgbClr val="222A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22A40"/>
                </a:solidFill>
                <a:latin typeface="Microsoft YaHei"/>
                <a:ea typeface="Microsoft YaHei"/>
                <a:cs typeface="Microsoft YaHei"/>
              </a:rPr>
              <a:t>现代中文与全新来源仍待检验</a:t>
            </a:r>
          </a:p>
        </p:txBody>
      </p:sp>
    </p:spTree>
    <p:extLst>
      <p:ext uri="{BB962C8B-B14F-4D97-AF65-F5344CB8AC3E}">
        <p14:creationId xmlns:p14="http://schemas.microsoft.com/office/powerpoint/2010/main" val="44588930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6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703ACB-A354-4AD4-9D93-C0D39A36D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0050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>
              <a:defRPr sz="3150" b="1">
                <a:solidFill>
                  <a:srgbClr val="222A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22A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22A40"/>
                </a:solidFill>
                <a:latin typeface="Microsoft YaHei"/>
                <a:ea typeface="Microsoft YaHei"/>
                <a:cs typeface="Microsoft YaHei"/>
              </a:rPr>
              <a:t>高垃圾分数，是否真的可信？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97D2A3-143F-41B7-9F62-4375664F1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085850"/>
            <a:ext cx="1066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>
              <a:defRPr sz="1650" b="0">
                <a:solidFill>
                  <a:srgbClr val="65708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6570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57086"/>
                </a:solidFill>
                <a:latin typeface="Microsoft YaHei"/>
                <a:ea typeface="Microsoft YaHei"/>
                <a:cs typeface="Microsoft YaHei"/>
              </a:rPr>
              <a:t>比较区间平均预测概率与实际垃圾比例；空区间不补造数据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90A43A-5616-4B04-8E11-DEE1E1206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419850"/>
            <a:ext cx="762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>
              <a:defRPr sz="1200" b="0">
                <a:solidFill>
                  <a:srgbClr val="65708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570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57086"/>
                </a:solidFill>
                <a:latin typeface="Microsoft YaHei"/>
                <a:ea typeface="Microsoft YaHei"/>
                <a:cs typeface="Microsoft YaHei"/>
              </a:rPr>
              <a:t>题目六 · 邮件分类与 Python 数据分析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450229-A364-4252-8318-D6B62C704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6419850"/>
            <a:ext cx="85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>
              <a:defRPr sz="1200" b="0">
                <a:solidFill>
                  <a:srgbClr val="65708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570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57086"/>
                </a:solidFill>
                <a:latin typeface="Microsoft YaHei"/>
                <a:ea typeface="Microsoft YaHei"/>
                <a:cs typeface="Microsoft YaHei"/>
              </a:rPr>
              <a:t>07 / 08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ADB3C9AE-62C0-46A4-8C1D-72CF5DB213F5}"/>
              </a:ext>
            </a:extLst>
          </p:cNvPr>
          <p:cNvGraphicFramePr/>
          <p:nvPr/>
        </p:nvGraphicFramePr>
        <p:xfrm>
          <a:off xmlns:a="http://schemas.openxmlformats.org/drawingml/2006/main" x="762000" y="1866900"/>
          <a:ext xmlns:a="http://schemas.openxmlformats.org/drawingml/2006/main" cx="7191375" cy="3905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53336f6bb914c09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4E9358-3CAA-4318-B596-CAC47ABB6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181225"/>
            <a:ext cx="295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>
              <a:defRPr sz="1875" b="0">
                <a:solidFill>
                  <a:srgbClr val="65708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6570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57086"/>
                </a:solidFill>
                <a:latin typeface="Microsoft YaHei"/>
                <a:ea typeface="Microsoft YaHei"/>
                <a:cs typeface="Microsoft YaHei"/>
              </a:rPr>
              <a:t>Brier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62418A-70C3-48DE-A5E8-2EFD28D8B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647950"/>
            <a:ext cx="295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>
              <a:defRPr sz="3450" b="1">
                <a:solidFill>
                  <a:srgbClr val="6265D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6265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6265D9"/>
                </a:solidFill>
                <a:latin typeface="Microsoft YaHei"/>
                <a:ea typeface="Microsoft YaHei"/>
                <a:cs typeface="Microsoft YaHei"/>
              </a:rPr>
              <a:t>0.00544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A323FB-0958-44BE-81C0-6CF609CAD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381375"/>
            <a:ext cx="2952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>
              <a:defRPr sz="1725" b="0">
                <a:solidFill>
                  <a:srgbClr val="65708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6570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57086"/>
                </a:solidFill>
                <a:latin typeface="Microsoft YaHei"/>
                <a:ea typeface="Microsoft YaHei"/>
                <a:cs typeface="Microsoft YaHei"/>
              </a:rPr>
              <a:t>越低，整体概率误差越小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86EB01-CCE7-402C-AC4E-581CCB000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362450"/>
            <a:ext cx="295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>
              <a:defRPr sz="2175" b="1">
                <a:solidFill>
                  <a:srgbClr val="222A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222A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22A40"/>
                </a:solidFill>
                <a:latin typeface="Microsoft YaHei"/>
                <a:ea typeface="Microsoft YaHei"/>
                <a:cs typeface="Microsoft YaHei"/>
              </a:rPr>
              <a:t>分数 1 ≠ 必然正确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A638CE-2F4F-4C8F-AC6F-C9A573099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674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>
              <a:defRPr sz="1725" b="0">
                <a:solidFill>
                  <a:srgbClr val="65708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6570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57086"/>
                </a:solidFill>
                <a:latin typeface="Microsoft YaHei"/>
                <a:ea typeface="Microsoft YaHei"/>
                <a:cs typeface="Microsoft YaHei"/>
              </a:rPr>
              <a:t>训练邮件高分不能证明泛化；独立校准也无法保证每封邮件都可靠。</a:t>
            </a:r>
          </a:p>
        </p:txBody>
      </p:sp>
    </p:spTree>
    <p:extLst>
      <p:ext uri="{BB962C8B-B14F-4D97-AF65-F5344CB8AC3E}">
        <p14:creationId xmlns:p14="http://schemas.microsoft.com/office/powerpoint/2010/main" val="73214126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6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D2F9ED6-31B5-4257-A304-CA406D6B8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0050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>
              <a:defRPr sz="3150" b="1">
                <a:solidFill>
                  <a:srgbClr val="222A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22A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22A40"/>
                </a:solidFill>
                <a:latin typeface="Microsoft YaHei"/>
                <a:ea typeface="Microsoft YaHei"/>
                <a:cs typeface="Microsoft YaHei"/>
              </a:rPr>
              <a:t>把分析过程连回具体邮件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293103-8639-4EB4-82A2-B5A547B5D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085850"/>
            <a:ext cx="1066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>
              <a:defRPr sz="1650" b="0">
                <a:solidFill>
                  <a:srgbClr val="65708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6570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57086"/>
                </a:solidFill>
                <a:latin typeface="Microsoft YaHei"/>
                <a:ea typeface="Microsoft YaHei"/>
                <a:cs typeface="Microsoft YaHei"/>
              </a:rPr>
              <a:t>文字或文件 → 真实词元与特征 → 模型分数 → 修改片段再比较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20B4BC-5520-41FB-B097-47362254A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419850"/>
            <a:ext cx="762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>
              <a:defRPr sz="1200" b="0">
                <a:solidFill>
                  <a:srgbClr val="65708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570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57086"/>
                </a:solidFill>
                <a:latin typeface="Microsoft YaHei"/>
                <a:ea typeface="Microsoft YaHei"/>
                <a:cs typeface="Microsoft YaHei"/>
              </a:rPr>
              <a:t>题目六 · 邮件分类与 Python 数据分析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DE8CD7-34A4-41C6-815D-F836D16CE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6419850"/>
            <a:ext cx="85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>
              <a:defRPr sz="1200" b="0">
                <a:solidFill>
                  <a:srgbClr val="65708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570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57086"/>
                </a:solidFill>
                <a:latin typeface="Microsoft YaHei"/>
                <a:ea typeface="Microsoft YaHei"/>
                <a:cs typeface="Microsoft YaHei"/>
              </a:rPr>
              <a:t>08 / 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7C5528-BE73-4DBB-8476-282CC5AAE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57400"/>
            <a:ext cx="333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>
              <a:defRPr sz="3300" b="1">
                <a:solidFill>
                  <a:srgbClr val="6265D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6265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6265D9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343F41-A3D6-479D-8DC3-A9281244F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00350"/>
            <a:ext cx="333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>
              <a:defRPr sz="2550" b="1">
                <a:solidFill>
                  <a:srgbClr val="222A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222A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222A40"/>
                </a:solidFill>
                <a:latin typeface="Microsoft YaHei"/>
                <a:ea typeface="Microsoft YaHei"/>
                <a:cs typeface="Microsoft YaHei"/>
              </a:rPr>
              <a:t>读取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F9C6FD-AEED-40E7-9534-DF15AACC1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95675"/>
            <a:ext cx="3333750" cy="1133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>
              <a:defRPr sz="1875" b="0">
                <a:solidFill>
                  <a:srgbClr val="222A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22A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22A40"/>
                </a:solidFill>
                <a:latin typeface="Microsoft YaHei"/>
                <a:ea typeface="Microsoft YaHei"/>
                <a:cs typeface="Microsoft YaHei"/>
              </a:rPr>
              <a:t>粘贴邮件或上传</a:t>
            </a:r>
          </a:p>
          <a:p xmlns:a="http://schemas.openxmlformats.org/drawingml/2006/main">
            <a:pPr>
              <a:defRPr sz="1875" b="0">
                <a:solidFill>
                  <a:srgbClr val="222A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22A40"/>
                </a:solidFill>
                <a:latin typeface="Microsoft YaHei"/>
                <a:ea typeface="Microsoft YaHei"/>
                <a:cs typeface="Microsoft YaHei"/>
              </a:rPr>
              <a:t>EML / TXT / CSV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7AA107-D9EB-4856-BC13-CFAF0ACBB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057400"/>
            <a:ext cx="333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>
              <a:defRPr sz="3300" b="1">
                <a:solidFill>
                  <a:srgbClr val="6265D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6265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6265D9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091807-0917-425F-8AE1-36D2B0039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800350"/>
            <a:ext cx="333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>
              <a:defRPr sz="2550" b="1">
                <a:solidFill>
                  <a:srgbClr val="222A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222A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222A40"/>
                </a:solidFill>
                <a:latin typeface="Microsoft YaHei"/>
                <a:ea typeface="Microsoft YaHei"/>
                <a:cs typeface="Microsoft YaHei"/>
              </a:rPr>
              <a:t>解释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5DC833-DE5E-498B-B4DD-9FD7858AB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495675"/>
            <a:ext cx="3333750" cy="1133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>
              <a:defRPr sz="1875" b="0">
                <a:solidFill>
                  <a:srgbClr val="222A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22A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22A40"/>
                </a:solidFill>
                <a:latin typeface="Microsoft YaHei"/>
                <a:ea typeface="Microsoft YaHei"/>
                <a:cs typeface="Microsoft YaHei"/>
              </a:rPr>
              <a:t>词元、TF-IDF、线性贡献</a:t>
            </a:r>
          </a:p>
          <a:p xmlns:a="http://schemas.openxmlformats.org/drawingml/2006/main">
            <a:pPr>
              <a:defRPr sz="1875" b="0">
                <a:solidFill>
                  <a:srgbClr val="222A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22A40"/>
                </a:solidFill>
                <a:latin typeface="Microsoft YaHei"/>
                <a:ea typeface="Microsoft YaHei"/>
                <a:cs typeface="Microsoft YaHei"/>
              </a:rPr>
              <a:t>实际张量与计算回放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29DD9E-5F55-4A0A-AED6-5E2285CF6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057400"/>
            <a:ext cx="333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>
              <a:defRPr sz="3300" b="1">
                <a:solidFill>
                  <a:srgbClr val="6265D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6265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6265D9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FF1950-14DD-442A-8D63-289AE6059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800350"/>
            <a:ext cx="333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>
              <a:defRPr sz="2550" b="1">
                <a:solidFill>
                  <a:srgbClr val="222A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222A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222A40"/>
                </a:solidFill>
                <a:latin typeface="Microsoft YaHei"/>
                <a:ea typeface="Microsoft YaHei"/>
                <a:cs typeface="Microsoft YaHei"/>
              </a:rPr>
              <a:t>比较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8026E23-44E3-45F3-9F6D-5BC775251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495675"/>
            <a:ext cx="3333750" cy="1133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>
              <a:defRPr sz="1875" b="0">
                <a:solidFill>
                  <a:srgbClr val="222A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22A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22A40"/>
                </a:solidFill>
                <a:latin typeface="Microsoft YaHei"/>
                <a:ea typeface="Microsoft YaHei"/>
                <a:cs typeface="Microsoft YaHei"/>
              </a:rPr>
              <a:t>同一邮件切换方法</a:t>
            </a:r>
          </a:p>
          <a:p xmlns:a="http://schemas.openxmlformats.org/drawingml/2006/main">
            <a:pPr>
              <a:defRPr sz="1875" b="0">
                <a:solidFill>
                  <a:srgbClr val="222A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22A40"/>
                </a:solidFill>
                <a:latin typeface="Microsoft YaHei"/>
                <a:ea typeface="Microsoft YaHei"/>
                <a:cs typeface="Microsoft YaHei"/>
              </a:rPr>
              <a:t>修改片段后重新推理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447C59E-6BDF-4EA9-9208-41A6AFA7C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57800"/>
            <a:ext cx="106680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>
              <a:defRPr sz="2400" b="1">
                <a:solidFill>
                  <a:srgbClr val="222A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222A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22A40"/>
                </a:solidFill>
                <a:latin typeface="Microsoft YaHei"/>
                <a:ea typeface="Microsoft YaHei"/>
                <a:cs typeface="Microsoft YaHei"/>
              </a:rPr>
              <a:t>课程主线：清洗、统计、特征、建模、评价与解释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3531319-40F8-44FE-A848-ACF3E1C06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38825"/>
            <a:ext cx="1066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>
              <a:defRPr sz="1800" b="0">
                <a:solidFill>
                  <a:srgbClr val="65708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6570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57086"/>
                </a:solidFill>
                <a:latin typeface="Microsoft YaHei"/>
                <a:ea typeface="Microsoft YaHei"/>
                <a:cs typeface="Microsoft YaHei"/>
              </a:rPr>
              <a:t>动画回放真实计算；断点保存训练状态，关机后可继续。</a:t>
            </a:r>
          </a:p>
        </p:txBody>
      </p:sp>
    </p:spTree>
    <p:extLst>
      <p:ext uri="{BB962C8B-B14F-4D97-AF65-F5344CB8AC3E}">
        <p14:creationId xmlns:p14="http://schemas.microsoft.com/office/powerpoint/2010/main" val="84305946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2026-10-15T18:39:17.3930000Z</dcterms:created>
  <dcterms:modified xsi:type="dcterms:W3CDTF">2026-10-15T18:39:17.3930000Z</dcterms:modified>
</coreProperties>
</file>